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p:bgPr>
    </p:bg>
    <p:spTree>
      <p:nvGrpSpPr>
        <p:cNvPr id="1" name=""/>
        <p:cNvGrpSpPr/>
        <p:nvPr/>
      </p:nvGrpSpPr>
      <p:grpSpPr>
        <a:xfrm>
          <a:off x="0" y="0"/>
          <a:ext cx="0" cy="0"/>
          <a:chOff x="0" y="0"/>
          <a:chExt cx="0" cy="0"/>
        </a:xfrm>
      </p:grpSpPr>
      <p:sp>
        <p:nvSpPr>
          <p:cNvPr id="2" name="Text 0"/>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7FAED9"/>
                </a:solidFill>
                <a:latin typeface="Arial" pitchFamily="34" charset="0"/>
                <a:ea typeface="Arial" pitchFamily="34" charset="-122"/>
                <a:cs typeface="Arial" pitchFamily="34" charset="-120"/>
              </a:rPr>
              <a:t>01</a:t>
            </a:r>
            <a:endParaRPr lang="en-US" sz="900" dirty="0"/>
          </a:p>
        </p:txBody>
      </p:sp>
      <p:sp>
        <p:nvSpPr>
          <p:cNvPr id="3" name="Text 1"/>
          <p:cNvSpPr txBox="1"/>
          <p:nvPr/>
        </p:nvSpPr>
        <p:spPr>
          <a:xfrm>
            <a:off x="548640" y="1325880"/>
            <a:ext cx="8046720" cy="256032"/>
          </a:xfrm>
          <a:prstGeom prst="rect">
            <a:avLst/>
          </a:prstGeom>
          <a:noFill/>
          <a:ln/>
        </p:spPr>
        <p:txBody>
          <a:bodyPr wrap="square" lIns="0" tIns="0" rIns="0" bIns="0" rtlCol="0" anchor="ctr"/>
          <a:lstStyle/>
          <a:p>
            <a:pPr indent="0" marL="0">
              <a:buNone/>
            </a:pPr>
            <a:r>
              <a:rPr lang="en-US" sz="1100" b="1" spc="200" kern="0" dirty="0">
                <a:solidFill>
                  <a:srgbClr val="E8A838"/>
                </a:solidFill>
                <a:latin typeface="Arial" pitchFamily="34" charset="0"/>
                <a:ea typeface="Arial" pitchFamily="34" charset="-122"/>
                <a:cs typeface="Arial" pitchFamily="34" charset="-120"/>
              </a:rPr>
              <a:t>CÁTEDRA SARAVIA · SISTEMAS ADMINISTRATIVOS</a:t>
            </a:r>
            <a:endParaRPr lang="en-US" sz="1100" dirty="0"/>
          </a:p>
        </p:txBody>
      </p:sp>
      <p:sp>
        <p:nvSpPr>
          <p:cNvPr id="4" name="Text 2"/>
          <p:cNvSpPr txBox="1"/>
          <p:nvPr/>
        </p:nvSpPr>
        <p:spPr>
          <a:xfrm>
            <a:off x="548640" y="1691640"/>
            <a:ext cx="8046720" cy="82296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Sistema de Compras</a:t>
            </a:r>
            <a:endParaRPr lang="en-US" sz="4200" dirty="0"/>
          </a:p>
        </p:txBody>
      </p:sp>
      <p:sp>
        <p:nvSpPr>
          <p:cNvPr id="5" name="Text 3"/>
          <p:cNvSpPr txBox="1"/>
          <p:nvPr/>
        </p:nvSpPr>
        <p:spPr>
          <a:xfrm>
            <a:off x="548640" y="2651760"/>
            <a:ext cx="8046720" cy="320040"/>
          </a:xfrm>
          <a:prstGeom prst="rect">
            <a:avLst/>
          </a:prstGeom>
          <a:noFill/>
          <a:ln/>
        </p:spPr>
        <p:txBody>
          <a:bodyPr wrap="square" lIns="0" tIns="0" rIns="0" bIns="0" rtlCol="0" anchor="ctr"/>
          <a:lstStyle/>
          <a:p>
            <a:pPr indent="0" marL="0">
              <a:buNone/>
            </a:pPr>
            <a:r>
              <a:rPr lang="en-US" sz="1400" dirty="0">
                <a:solidFill>
                  <a:srgbClr val="C3DFF3"/>
                </a:solidFill>
                <a:latin typeface="Arial" pitchFamily="34" charset="0"/>
                <a:ea typeface="Arial" pitchFamily="34" charset="-122"/>
                <a:cs typeface="Arial" pitchFamily="34" charset="-120"/>
              </a:rPr>
              <a:t>Tipos · Normas de control interno · Subprocesos · Información gerencial</a:t>
            </a:r>
            <a:endParaRPr lang="en-US" sz="1400" dirty="0"/>
          </a:p>
        </p:txBody>
      </p:sp>
      <p:sp>
        <p:nvSpPr>
          <p:cNvPr id="6" name="Text 4"/>
          <p:cNvSpPr txBox="1"/>
          <p:nvPr/>
        </p:nvSpPr>
        <p:spPr>
          <a:xfrm>
            <a:off x="548640" y="4114800"/>
            <a:ext cx="4572000" cy="320040"/>
          </a:xfrm>
          <a:prstGeom prst="rect">
            <a:avLst/>
          </a:prstGeom>
          <a:noFill/>
          <a:ln/>
        </p:spPr>
        <p:txBody>
          <a:bodyPr wrap="square" lIns="0" tIns="0" rIns="0" bIns="0" rtlCol="0" anchor="ctr"/>
          <a:lstStyle/>
          <a:p>
            <a:pPr indent="0" marL="0">
              <a:buNone/>
            </a:pPr>
            <a:r>
              <a:rPr lang="en-US" sz="1300" b="1" dirty="0">
                <a:solidFill>
                  <a:srgbClr val="E8A838"/>
                </a:solidFill>
                <a:latin typeface="Arial" pitchFamily="34" charset="0"/>
                <a:ea typeface="Arial" pitchFamily="34" charset="-122"/>
                <a:cs typeface="Arial" pitchFamily="34" charset="-120"/>
              </a:rPr>
              <a:t>FCE – UBA · 1C 2026</a:t>
            </a:r>
            <a:endParaRPr lang="en-US" sz="1300" dirty="0"/>
          </a:p>
        </p:txBody>
      </p:sp>
      <p:sp>
        <p:nvSpPr>
          <p:cNvPr id="7" name="Shape 5"/>
          <p:cNvSpPr/>
          <p:nvPr/>
        </p:nvSpPr>
        <p:spPr>
          <a:xfrm>
            <a:off x="0" y="4892040"/>
            <a:ext cx="9144000" cy="251460"/>
          </a:xfrm>
          <a:prstGeom prst="rect">
            <a:avLst/>
          </a:prstGeom>
          <a:solidFill>
            <a:srgbClr val="9DC8E8"/>
          </a:solidFill>
          <a:ln w="9525">
            <a:solidFill>
              <a:srgbClr val="9DC8E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SISTEMA DE COMPRAS</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¿Qué es el Sistema de Compras?</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02</a:t>
            </a:r>
            <a:endParaRPr lang="en-US" sz="900" dirty="0"/>
          </a:p>
        </p:txBody>
      </p:sp>
      <p:sp>
        <p:nvSpPr>
          <p:cNvPr id="6" name="Shape 4"/>
          <p:cNvSpPr/>
          <p:nvPr/>
        </p:nvSpPr>
        <p:spPr>
          <a:xfrm>
            <a:off x="548640" y="1188720"/>
            <a:ext cx="8046720" cy="1051560"/>
          </a:xfrm>
          <a:prstGeom prst="rect">
            <a:avLst/>
          </a:prstGeom>
          <a:solidFill>
            <a:srgbClr val="F7F9FC"/>
          </a:solidFill>
          <a:ln w="9525">
            <a:solidFill>
              <a:srgbClr val="DDE4EE"/>
            </a:solidFill>
            <a:prstDash val="solid"/>
          </a:ln>
        </p:spPr>
      </p:sp>
      <p:sp>
        <p:nvSpPr>
          <p:cNvPr id="7" name="Shape 5"/>
          <p:cNvSpPr/>
          <p:nvPr/>
        </p:nvSpPr>
        <p:spPr>
          <a:xfrm>
            <a:off x="731520" y="1325880"/>
            <a:ext cx="777240" cy="777240"/>
          </a:xfrm>
          <a:prstGeom prst="ellipse">
            <a:avLst/>
          </a:prstGeom>
          <a:solidFill>
            <a:srgbClr val="1A2B4A"/>
          </a:solidFill>
          <a:ln w="9525">
            <a:solidFill>
              <a:srgbClr val="1A2B4A"/>
            </a:solidFill>
            <a:prstDash val="solid"/>
          </a:ln>
        </p:spPr>
      </p:sp>
      <p:pic>
        <p:nvPicPr>
          <p:cNvPr id="8" name="Image 0" descr="preencoded.png">    </p:cNvPr>
          <p:cNvPicPr>
            <a:picLocks noChangeAspect="1"/>
          </p:cNvPicPr>
          <p:nvPr/>
        </p:nvPicPr>
        <p:blipFill>
          <a:blip r:embed="rId1"/>
          <a:stretch>
            <a:fillRect/>
          </a:stretch>
        </p:blipFill>
        <p:spPr>
          <a:xfrm>
            <a:off x="918058" y="1512418"/>
            <a:ext cx="404165" cy="404165"/>
          </a:xfrm>
          <a:prstGeom prst="rect">
            <a:avLst/>
          </a:prstGeom>
        </p:spPr>
      </p:pic>
      <p:sp>
        <p:nvSpPr>
          <p:cNvPr id="9" name="Text 6"/>
          <p:cNvSpPr txBox="1"/>
          <p:nvPr/>
        </p:nvSpPr>
        <p:spPr>
          <a:xfrm>
            <a:off x="1737360" y="1280160"/>
            <a:ext cx="2743200" cy="201168"/>
          </a:xfrm>
          <a:prstGeom prst="rect">
            <a:avLst/>
          </a:prstGeom>
          <a:noFill/>
          <a:ln/>
        </p:spPr>
        <p:txBody>
          <a:bodyPr wrap="square" lIns="0" tIns="0" rIns="0" bIns="0" rtlCol="0" anchor="ctr"/>
          <a:lstStyle/>
          <a:p>
            <a:pPr indent="0" marL="0">
              <a:buNone/>
            </a:pPr>
            <a:r>
              <a:rPr lang="en-US" sz="950" b="1" spc="200" kern="0" dirty="0">
                <a:solidFill>
                  <a:srgbClr val="3D7CB0"/>
                </a:solidFill>
                <a:latin typeface="Arial" pitchFamily="34" charset="0"/>
                <a:ea typeface="Arial" pitchFamily="34" charset="-122"/>
                <a:cs typeface="Arial" pitchFamily="34" charset="-120"/>
              </a:rPr>
              <a:t>DEFINICIÓN</a:t>
            </a:r>
            <a:endParaRPr lang="en-US" sz="950" dirty="0"/>
          </a:p>
        </p:txBody>
      </p:sp>
      <p:sp>
        <p:nvSpPr>
          <p:cNvPr id="10" name="Text 7"/>
          <p:cNvSpPr txBox="1"/>
          <p:nvPr/>
        </p:nvSpPr>
        <p:spPr>
          <a:xfrm>
            <a:off x="1737360" y="1481328"/>
            <a:ext cx="6675120" cy="685800"/>
          </a:xfrm>
          <a:prstGeom prst="rect">
            <a:avLst/>
          </a:prstGeom>
          <a:noFill/>
          <a:ln/>
        </p:spPr>
        <p:txBody>
          <a:bodyPr wrap="square" lIns="0" tIns="0" rIns="0" bIns="0" rtlCol="0" anchor="ctr"/>
          <a:lstStyle/>
          <a:p>
            <a:pPr indent="0" marL="0">
              <a:buNone/>
            </a:pPr>
            <a:r>
              <a:rPr lang="en-US" sz="1300" dirty="0">
                <a:solidFill>
                  <a:srgbClr val="334155"/>
                </a:solidFill>
                <a:latin typeface="Arial" pitchFamily="34" charset="0"/>
                <a:ea typeface="Arial" pitchFamily="34" charset="-122"/>
                <a:cs typeface="Arial" pitchFamily="34" charset="-120"/>
              </a:rPr>
              <a:t>Conjunto de operaciones cuya función es </a:t>
            </a:r>
            <a:pPr indent="0" marL="0">
              <a:buNone/>
            </a:pPr>
            <a:r>
              <a:rPr lang="en-US" sz="1300" b="1" dirty="0">
                <a:solidFill>
                  <a:srgbClr val="1A2B4A"/>
                </a:solidFill>
                <a:latin typeface="Arial" pitchFamily="34" charset="0"/>
                <a:ea typeface="Arial" pitchFamily="34" charset="-122"/>
                <a:cs typeface="Arial" pitchFamily="34" charset="-120"/>
              </a:rPr>
              <a:t>abastecer a la organización de los bienes y servicios</a:t>
            </a:r>
            <a:pPr indent="0" marL="0">
              <a:buNone/>
            </a:pPr>
            <a:r>
              <a:rPr lang="en-US" sz="1300" dirty="0">
                <a:solidFill>
                  <a:srgbClr val="334155"/>
                </a:solidFill>
                <a:latin typeface="Arial" pitchFamily="34" charset="0"/>
                <a:ea typeface="Arial" pitchFamily="34" charset="-122"/>
                <a:cs typeface="Arial" pitchFamily="34" charset="-120"/>
              </a:rPr>
              <a:t> necesarios para su funcionamiento, </a:t>
            </a:r>
            <a:pPr indent="0" marL="0">
              <a:buNone/>
            </a:pPr>
            <a:r>
              <a:rPr lang="en-US" sz="1300" b="1" dirty="0">
                <a:solidFill>
                  <a:srgbClr val="1A2B4A"/>
                </a:solidFill>
                <a:latin typeface="Arial" pitchFamily="34" charset="0"/>
                <a:ea typeface="Arial" pitchFamily="34" charset="-122"/>
                <a:cs typeface="Arial" pitchFamily="34" charset="-120"/>
              </a:rPr>
              <a:t>al menor costo posible y en el momento oportuno</a:t>
            </a:r>
            <a:pPr indent="0" marL="0">
              <a:buNone/>
            </a:pPr>
            <a:r>
              <a:rPr lang="en-US" sz="1300" dirty="0">
                <a:solidFill>
                  <a:srgbClr val="334155"/>
                </a:solidFill>
                <a:latin typeface="Arial" pitchFamily="34" charset="0"/>
                <a:ea typeface="Arial" pitchFamily="34" charset="-122"/>
                <a:cs typeface="Arial" pitchFamily="34" charset="-120"/>
              </a:rPr>
              <a:t>.</a:t>
            </a:r>
            <a:endParaRPr lang="en-US" sz="1300" dirty="0"/>
          </a:p>
        </p:txBody>
      </p:sp>
      <p:sp>
        <p:nvSpPr>
          <p:cNvPr id="11" name="Shape 8"/>
          <p:cNvSpPr/>
          <p:nvPr/>
        </p:nvSpPr>
        <p:spPr>
          <a:xfrm>
            <a:off x="548640" y="2377440"/>
            <a:ext cx="8046720" cy="685800"/>
          </a:xfrm>
          <a:prstGeom prst="rect">
            <a:avLst/>
          </a:prstGeom>
          <a:solidFill>
            <a:srgbClr val="FFFFFF"/>
          </a:solidFill>
          <a:ln w="9525">
            <a:solidFill>
              <a:srgbClr val="DDE4EE"/>
            </a:solidFill>
            <a:prstDash val="solid"/>
          </a:ln>
        </p:spPr>
      </p:sp>
      <p:sp>
        <p:nvSpPr>
          <p:cNvPr id="12" name="Text 9"/>
          <p:cNvSpPr txBox="1"/>
          <p:nvPr/>
        </p:nvSpPr>
        <p:spPr>
          <a:xfrm>
            <a:off x="731520" y="2450592"/>
            <a:ext cx="2743200" cy="201168"/>
          </a:xfrm>
          <a:prstGeom prst="rect">
            <a:avLst/>
          </a:prstGeom>
          <a:noFill/>
          <a:ln/>
        </p:spPr>
        <p:txBody>
          <a:bodyPr wrap="square" lIns="0" tIns="0" rIns="0" bIns="0" rtlCol="0" anchor="ctr"/>
          <a:lstStyle/>
          <a:p>
            <a:pPr indent="0" marL="0">
              <a:buNone/>
            </a:pPr>
            <a:r>
              <a:rPr lang="en-US" sz="950" b="1" spc="200" kern="0" dirty="0">
                <a:solidFill>
                  <a:srgbClr val="3D7CB0"/>
                </a:solidFill>
                <a:latin typeface="Arial" pitchFamily="34" charset="0"/>
                <a:ea typeface="Arial" pitchFamily="34" charset="-122"/>
                <a:cs typeface="Arial" pitchFamily="34" charset="-120"/>
              </a:rPr>
              <a:t>ALCANCE</a:t>
            </a:r>
            <a:endParaRPr lang="en-US" sz="950" dirty="0"/>
          </a:p>
        </p:txBody>
      </p:sp>
      <p:sp>
        <p:nvSpPr>
          <p:cNvPr id="13" name="Text 10"/>
          <p:cNvSpPr txBox="1"/>
          <p:nvPr/>
        </p:nvSpPr>
        <p:spPr>
          <a:xfrm>
            <a:off x="731520" y="2651760"/>
            <a:ext cx="7680960" cy="384048"/>
          </a:xfrm>
          <a:prstGeom prst="rect">
            <a:avLst/>
          </a:prstGeom>
          <a:noFill/>
          <a:ln/>
        </p:spPr>
        <p:txBody>
          <a:bodyPr wrap="square" lIns="0" tIns="0" rIns="0" bIns="0" rtlCol="0" anchor="ctr"/>
          <a:lstStyle/>
          <a:p>
            <a:pPr indent="0" marL="0">
              <a:buNone/>
            </a:pPr>
            <a:r>
              <a:rPr lang="en-US" sz="1200" dirty="0">
                <a:solidFill>
                  <a:srgbClr val="334155"/>
                </a:solidFill>
                <a:latin typeface="Arial" pitchFamily="34" charset="0"/>
                <a:ea typeface="Arial" pitchFamily="34" charset="-122"/>
                <a:cs typeface="Arial" pitchFamily="34" charset="-120"/>
              </a:rPr>
              <a:t>Desde la </a:t>
            </a:r>
            <a:pPr indent="0" marL="0">
              <a:buNone/>
            </a:pPr>
            <a:r>
              <a:rPr lang="en-US" sz="1200" b="1" dirty="0">
                <a:solidFill>
                  <a:srgbClr val="1A2B4A"/>
                </a:solidFill>
                <a:latin typeface="Arial" pitchFamily="34" charset="0"/>
                <a:ea typeface="Arial" pitchFamily="34" charset="-122"/>
                <a:cs typeface="Arial" pitchFamily="34" charset="-120"/>
              </a:rPr>
              <a:t>detección de la necesidad de compra</a:t>
            </a:r>
            <a:pPr indent="0" marL="0">
              <a:buNone/>
            </a:pPr>
            <a:r>
              <a:rPr lang="en-US" sz="1200" dirty="0">
                <a:solidFill>
                  <a:srgbClr val="334155"/>
                </a:solidFill>
                <a:latin typeface="Arial" pitchFamily="34" charset="0"/>
                <a:ea typeface="Arial" pitchFamily="34" charset="-122"/>
                <a:cs typeface="Arial" pitchFamily="34" charset="-120"/>
              </a:rPr>
              <a:t> (punto de pedido / stock mínimo) hasta la </a:t>
            </a:r>
            <a:pPr indent="0" marL="0">
              <a:buNone/>
            </a:pPr>
            <a:r>
              <a:rPr lang="en-US" sz="1200" b="1" dirty="0">
                <a:solidFill>
                  <a:srgbClr val="1A2B4A"/>
                </a:solidFill>
                <a:latin typeface="Arial" pitchFamily="34" charset="0"/>
                <a:ea typeface="Arial" pitchFamily="34" charset="-122"/>
                <a:cs typeface="Arial" pitchFamily="34" charset="-120"/>
              </a:rPr>
              <a:t>recepción e ingreso de los bienes a Almacenes y su contabilización</a:t>
            </a:r>
            <a:pPr indent="0" marL="0">
              <a:buNone/>
            </a:pPr>
            <a:r>
              <a:rPr lang="en-US" sz="1200" dirty="0">
                <a:solidFill>
                  <a:srgbClr val="334155"/>
                </a:solidFill>
                <a:latin typeface="Arial" pitchFamily="34" charset="0"/>
                <a:ea typeface="Arial" pitchFamily="34" charset="-122"/>
                <a:cs typeface="Arial" pitchFamily="34" charset="-120"/>
              </a:rPr>
              <a:t>.</a:t>
            </a:r>
            <a:endParaRPr lang="en-US" sz="1200" dirty="0"/>
          </a:p>
        </p:txBody>
      </p:sp>
      <p:sp>
        <p:nvSpPr>
          <p:cNvPr id="14" name="Text 11"/>
          <p:cNvSpPr txBox="1"/>
          <p:nvPr/>
        </p:nvSpPr>
        <p:spPr>
          <a:xfrm>
            <a:off x="548640" y="3246120"/>
            <a:ext cx="3657600" cy="228600"/>
          </a:xfrm>
          <a:prstGeom prst="rect">
            <a:avLst/>
          </a:prstGeom>
          <a:noFill/>
          <a:ln/>
        </p:spPr>
        <p:txBody>
          <a:bodyPr wrap="square" lIns="0" tIns="0" rIns="0" bIns="0" rtlCol="0" anchor="ctr"/>
          <a:lstStyle/>
          <a:p>
            <a:pPr indent="0" marL="0">
              <a:buNone/>
            </a:pPr>
            <a:r>
              <a:rPr lang="en-US" sz="1000" b="1" spc="200" kern="0" dirty="0">
                <a:solidFill>
                  <a:srgbClr val="B9791C"/>
                </a:solidFill>
                <a:latin typeface="Arial" pitchFamily="34" charset="0"/>
                <a:ea typeface="Arial" pitchFamily="34" charset="-122"/>
                <a:cs typeface="Arial" pitchFamily="34" charset="-120"/>
              </a:rPr>
              <a:t>TIPOS DE COMPRAS</a:t>
            </a:r>
            <a:endParaRPr lang="en-US" sz="1000" dirty="0"/>
          </a:p>
        </p:txBody>
      </p:sp>
      <p:sp>
        <p:nvSpPr>
          <p:cNvPr id="15" name="Shape 12"/>
          <p:cNvSpPr/>
          <p:nvPr/>
        </p:nvSpPr>
        <p:spPr>
          <a:xfrm>
            <a:off x="548640" y="3566160"/>
            <a:ext cx="1874520" cy="1097280"/>
          </a:xfrm>
          <a:prstGeom prst="rect">
            <a:avLst/>
          </a:prstGeom>
          <a:solidFill>
            <a:srgbClr val="F7F9FC"/>
          </a:solidFill>
          <a:ln w="9525">
            <a:solidFill>
              <a:srgbClr val="DDE4EE"/>
            </a:solidFill>
            <a:prstDash val="solid"/>
          </a:ln>
        </p:spPr>
      </p:sp>
      <p:sp>
        <p:nvSpPr>
          <p:cNvPr id="16" name="Shape 13"/>
          <p:cNvSpPr/>
          <p:nvPr/>
        </p:nvSpPr>
        <p:spPr>
          <a:xfrm>
            <a:off x="658368" y="3886200"/>
            <a:ext cx="457200" cy="457200"/>
          </a:xfrm>
          <a:prstGeom prst="ellipse">
            <a:avLst/>
          </a:prstGeom>
          <a:solidFill>
            <a:srgbClr val="9DC8E8"/>
          </a:solidFill>
          <a:ln w="9525">
            <a:solidFill>
              <a:srgbClr val="9DC8E8"/>
            </a:solidFill>
            <a:prstDash val="solid"/>
          </a:ln>
        </p:spPr>
      </p:sp>
      <p:pic>
        <p:nvPicPr>
          <p:cNvPr id="17" name="Image 1" descr="preencoded.png">    </p:cNvPr>
          <p:cNvPicPr>
            <a:picLocks noChangeAspect="1"/>
          </p:cNvPicPr>
          <p:nvPr/>
        </p:nvPicPr>
        <p:blipFill>
          <a:blip r:embed="rId2"/>
          <a:stretch>
            <a:fillRect/>
          </a:stretch>
        </p:blipFill>
        <p:spPr>
          <a:xfrm>
            <a:off x="768096" y="3995928"/>
            <a:ext cx="237744" cy="237744"/>
          </a:xfrm>
          <a:prstGeom prst="rect">
            <a:avLst/>
          </a:prstGeom>
        </p:spPr>
      </p:pic>
      <p:sp>
        <p:nvSpPr>
          <p:cNvPr id="18" name="Text 14"/>
          <p:cNvSpPr txBox="1"/>
          <p:nvPr/>
        </p:nvSpPr>
        <p:spPr>
          <a:xfrm>
            <a:off x="1188720" y="3611880"/>
            <a:ext cx="1188720" cy="1005840"/>
          </a:xfrm>
          <a:prstGeom prst="rect">
            <a:avLst/>
          </a:prstGeom>
          <a:noFill/>
          <a:ln/>
        </p:spPr>
        <p:txBody>
          <a:bodyPr wrap="square" lIns="0" tIns="0" rIns="0" bIns="0" rtlCol="0" anchor="ctr"/>
          <a:lstStyle/>
          <a:p>
            <a:pPr indent="0" marL="0">
              <a:buNone/>
            </a:pPr>
            <a:r>
              <a:rPr lang="en-US" sz="1150" b="1" dirty="0">
                <a:solidFill>
                  <a:srgbClr val="1A2B4A"/>
                </a:solidFill>
                <a:latin typeface="Arial" pitchFamily="34" charset="0"/>
                <a:ea typeface="Arial" pitchFamily="34" charset="-122"/>
                <a:cs typeface="Arial" pitchFamily="34" charset="-120"/>
              </a:rPr>
              <a:t>Compras de bienes de uso</a:t>
            </a:r>
            <a:endParaRPr lang="en-US" sz="1150" dirty="0"/>
          </a:p>
        </p:txBody>
      </p:sp>
      <p:sp>
        <p:nvSpPr>
          <p:cNvPr id="19" name="Shape 15"/>
          <p:cNvSpPr/>
          <p:nvPr/>
        </p:nvSpPr>
        <p:spPr>
          <a:xfrm>
            <a:off x="2606040" y="3566160"/>
            <a:ext cx="1874520" cy="1097280"/>
          </a:xfrm>
          <a:prstGeom prst="rect">
            <a:avLst/>
          </a:prstGeom>
          <a:solidFill>
            <a:srgbClr val="1A2B4A"/>
          </a:solidFill>
          <a:ln w="9525">
            <a:solidFill>
              <a:srgbClr val="1A2B4A"/>
            </a:solidFill>
            <a:prstDash val="solid"/>
          </a:ln>
        </p:spPr>
      </p:sp>
      <p:sp>
        <p:nvSpPr>
          <p:cNvPr id="20" name="Shape 16"/>
          <p:cNvSpPr/>
          <p:nvPr/>
        </p:nvSpPr>
        <p:spPr>
          <a:xfrm>
            <a:off x="2715768" y="3886200"/>
            <a:ext cx="457200" cy="457200"/>
          </a:xfrm>
          <a:prstGeom prst="ellipse">
            <a:avLst/>
          </a:prstGeom>
          <a:solidFill>
            <a:srgbClr val="E8A838"/>
          </a:solidFill>
          <a:ln w="9525">
            <a:solidFill>
              <a:srgbClr val="E8A838"/>
            </a:solidFill>
            <a:prstDash val="solid"/>
          </a:ln>
        </p:spPr>
      </p:sp>
      <p:pic>
        <p:nvPicPr>
          <p:cNvPr id="21" name="Image 2" descr="preencoded.png">    </p:cNvPr>
          <p:cNvPicPr>
            <a:picLocks noChangeAspect="1"/>
          </p:cNvPicPr>
          <p:nvPr/>
        </p:nvPicPr>
        <p:blipFill>
          <a:blip r:embed="rId3"/>
          <a:stretch>
            <a:fillRect/>
          </a:stretch>
        </p:blipFill>
        <p:spPr>
          <a:xfrm>
            <a:off x="2825496" y="3995928"/>
            <a:ext cx="237744" cy="237744"/>
          </a:xfrm>
          <a:prstGeom prst="rect">
            <a:avLst/>
          </a:prstGeom>
        </p:spPr>
      </p:pic>
      <p:sp>
        <p:nvSpPr>
          <p:cNvPr id="22" name="Text 17"/>
          <p:cNvSpPr txBox="1"/>
          <p:nvPr/>
        </p:nvSpPr>
        <p:spPr>
          <a:xfrm>
            <a:off x="3246120" y="3611880"/>
            <a:ext cx="1188720" cy="10058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Compras normales</a:t>
            </a:r>
            <a:endParaRPr lang="en-US" sz="1150" dirty="0"/>
          </a:p>
        </p:txBody>
      </p:sp>
      <p:sp>
        <p:nvSpPr>
          <p:cNvPr id="23" name="Shape 18"/>
          <p:cNvSpPr/>
          <p:nvPr/>
        </p:nvSpPr>
        <p:spPr>
          <a:xfrm>
            <a:off x="4663440" y="3566160"/>
            <a:ext cx="1874520" cy="1097280"/>
          </a:xfrm>
          <a:prstGeom prst="rect">
            <a:avLst/>
          </a:prstGeom>
          <a:solidFill>
            <a:srgbClr val="F7F9FC"/>
          </a:solidFill>
          <a:ln w="9525">
            <a:solidFill>
              <a:srgbClr val="DDE4EE"/>
            </a:solidFill>
            <a:prstDash val="solid"/>
          </a:ln>
        </p:spPr>
      </p:sp>
      <p:sp>
        <p:nvSpPr>
          <p:cNvPr id="24" name="Shape 19"/>
          <p:cNvSpPr/>
          <p:nvPr/>
        </p:nvSpPr>
        <p:spPr>
          <a:xfrm>
            <a:off x="4773168" y="3886200"/>
            <a:ext cx="457200" cy="457200"/>
          </a:xfrm>
          <a:prstGeom prst="ellipse">
            <a:avLst/>
          </a:prstGeom>
          <a:solidFill>
            <a:srgbClr val="9DC8E8"/>
          </a:solidFill>
          <a:ln w="9525">
            <a:solidFill>
              <a:srgbClr val="9DC8E8"/>
            </a:solidFill>
            <a:prstDash val="solid"/>
          </a:ln>
        </p:spPr>
      </p:sp>
      <p:pic>
        <p:nvPicPr>
          <p:cNvPr id="25" name="Image 3" descr="preencoded.png">    </p:cNvPr>
          <p:cNvPicPr>
            <a:picLocks noChangeAspect="1"/>
          </p:cNvPicPr>
          <p:nvPr/>
        </p:nvPicPr>
        <p:blipFill>
          <a:blip r:embed="rId4"/>
          <a:stretch>
            <a:fillRect/>
          </a:stretch>
        </p:blipFill>
        <p:spPr>
          <a:xfrm>
            <a:off x="4882896" y="3995928"/>
            <a:ext cx="237744" cy="237744"/>
          </a:xfrm>
          <a:prstGeom prst="rect">
            <a:avLst/>
          </a:prstGeom>
        </p:spPr>
      </p:pic>
      <p:sp>
        <p:nvSpPr>
          <p:cNvPr id="26" name="Text 20"/>
          <p:cNvSpPr txBox="1"/>
          <p:nvPr/>
        </p:nvSpPr>
        <p:spPr>
          <a:xfrm>
            <a:off x="5303520" y="3611880"/>
            <a:ext cx="1188720" cy="1005840"/>
          </a:xfrm>
          <a:prstGeom prst="rect">
            <a:avLst/>
          </a:prstGeom>
          <a:noFill/>
          <a:ln/>
        </p:spPr>
        <p:txBody>
          <a:bodyPr wrap="square" lIns="0" tIns="0" rIns="0" bIns="0" rtlCol="0" anchor="ctr"/>
          <a:lstStyle/>
          <a:p>
            <a:pPr indent="0" marL="0">
              <a:buNone/>
            </a:pPr>
            <a:r>
              <a:rPr lang="en-US" sz="1150" b="1" dirty="0">
                <a:solidFill>
                  <a:srgbClr val="1A2B4A"/>
                </a:solidFill>
                <a:latin typeface="Arial" pitchFamily="34" charset="0"/>
                <a:ea typeface="Arial" pitchFamily="34" charset="-122"/>
                <a:cs typeface="Arial" pitchFamily="34" charset="-120"/>
              </a:rPr>
              <a:t>Compras menores</a:t>
            </a:r>
            <a:endParaRPr lang="en-US" sz="1150" dirty="0"/>
          </a:p>
        </p:txBody>
      </p:sp>
      <p:sp>
        <p:nvSpPr>
          <p:cNvPr id="27" name="Shape 21"/>
          <p:cNvSpPr/>
          <p:nvPr/>
        </p:nvSpPr>
        <p:spPr>
          <a:xfrm>
            <a:off x="6720840" y="3566160"/>
            <a:ext cx="1874520" cy="1097280"/>
          </a:xfrm>
          <a:prstGeom prst="rect">
            <a:avLst/>
          </a:prstGeom>
          <a:solidFill>
            <a:srgbClr val="F7F9FC"/>
          </a:solidFill>
          <a:ln w="9525">
            <a:solidFill>
              <a:srgbClr val="DDE4EE"/>
            </a:solidFill>
            <a:prstDash val="solid"/>
          </a:ln>
        </p:spPr>
      </p:sp>
      <p:sp>
        <p:nvSpPr>
          <p:cNvPr id="28" name="Shape 22"/>
          <p:cNvSpPr/>
          <p:nvPr/>
        </p:nvSpPr>
        <p:spPr>
          <a:xfrm>
            <a:off x="6830568" y="3886200"/>
            <a:ext cx="457200" cy="457200"/>
          </a:xfrm>
          <a:prstGeom prst="ellipse">
            <a:avLst/>
          </a:prstGeom>
          <a:solidFill>
            <a:srgbClr val="9DC8E8"/>
          </a:solidFill>
          <a:ln w="9525">
            <a:solidFill>
              <a:srgbClr val="9DC8E8"/>
            </a:solidFill>
            <a:prstDash val="solid"/>
          </a:ln>
        </p:spPr>
      </p:sp>
      <p:pic>
        <p:nvPicPr>
          <p:cNvPr id="29" name="Image 4" descr="preencoded.png">    </p:cNvPr>
          <p:cNvPicPr>
            <a:picLocks noChangeAspect="1"/>
          </p:cNvPicPr>
          <p:nvPr/>
        </p:nvPicPr>
        <p:blipFill>
          <a:blip r:embed="rId5"/>
          <a:stretch>
            <a:fillRect/>
          </a:stretch>
        </p:blipFill>
        <p:spPr>
          <a:xfrm>
            <a:off x="6940296" y="3995928"/>
            <a:ext cx="237744" cy="237744"/>
          </a:xfrm>
          <a:prstGeom prst="rect">
            <a:avLst/>
          </a:prstGeom>
        </p:spPr>
      </p:pic>
      <p:sp>
        <p:nvSpPr>
          <p:cNvPr id="30" name="Text 23"/>
          <p:cNvSpPr txBox="1"/>
          <p:nvPr/>
        </p:nvSpPr>
        <p:spPr>
          <a:xfrm>
            <a:off x="7360920" y="3611880"/>
            <a:ext cx="1188720" cy="1005840"/>
          </a:xfrm>
          <a:prstGeom prst="rect">
            <a:avLst/>
          </a:prstGeom>
          <a:noFill/>
          <a:ln/>
        </p:spPr>
        <p:txBody>
          <a:bodyPr wrap="square" lIns="0" tIns="0" rIns="0" bIns="0" rtlCol="0" anchor="ctr"/>
          <a:lstStyle/>
          <a:p>
            <a:pPr indent="0" marL="0">
              <a:buNone/>
            </a:pPr>
            <a:r>
              <a:rPr lang="en-US" sz="1150" b="1" dirty="0">
                <a:solidFill>
                  <a:srgbClr val="1A2B4A"/>
                </a:solidFill>
                <a:latin typeface="Arial" pitchFamily="34" charset="0"/>
                <a:ea typeface="Arial" pitchFamily="34" charset="-122"/>
                <a:cs typeface="Arial" pitchFamily="34" charset="-120"/>
              </a:rPr>
              <a:t>Importaciones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B4A"/>
        </a:solidFill>
      </p:bgPr>
    </p:bg>
    <p:spTree>
      <p:nvGrpSpPr>
        <p:cNvPr id="1" name=""/>
        <p:cNvGrpSpPr/>
        <p:nvPr/>
      </p:nvGrpSpPr>
      <p:grpSpPr>
        <a:xfrm>
          <a:off x="0" y="0"/>
          <a:ext cx="0" cy="0"/>
          <a:chOff x="0" y="0"/>
          <a:chExt cx="0" cy="0"/>
        </a:xfrm>
      </p:grpSpPr>
      <p:sp>
        <p:nvSpPr>
          <p:cNvPr id="2" name="Text 0"/>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7FAED9"/>
                </a:solidFill>
                <a:latin typeface="Arial" pitchFamily="34" charset="0"/>
                <a:ea typeface="Arial" pitchFamily="34" charset="-122"/>
                <a:cs typeface="Arial" pitchFamily="34" charset="-120"/>
              </a:rPr>
              <a:t>03</a:t>
            </a:r>
            <a:endParaRPr lang="en-US" sz="900" dirty="0"/>
          </a:p>
        </p:txBody>
      </p:sp>
      <p:sp>
        <p:nvSpPr>
          <p:cNvPr id="3" name="Text 1"/>
          <p:cNvSpPr txBox="1"/>
          <p:nvPr/>
        </p:nvSpPr>
        <p:spPr>
          <a:xfrm>
            <a:off x="548640" y="1417320"/>
            <a:ext cx="8046720" cy="411480"/>
          </a:xfrm>
          <a:prstGeom prst="rect">
            <a:avLst/>
          </a:prstGeom>
          <a:noFill/>
          <a:ln/>
        </p:spPr>
        <p:txBody>
          <a:bodyPr wrap="square" lIns="0" tIns="0" rIns="0" bIns="0" rtlCol="0" anchor="ctr"/>
          <a:lstStyle/>
          <a:p>
            <a:pPr indent="0" marL="0">
              <a:buNone/>
            </a:pPr>
            <a:r>
              <a:rPr lang="en-US" sz="2000" dirty="0">
                <a:solidFill>
                  <a:srgbClr val="9DC8E8"/>
                </a:solidFill>
                <a:latin typeface="Arial" pitchFamily="34" charset="0"/>
                <a:ea typeface="Arial" pitchFamily="34" charset="-122"/>
                <a:cs typeface="Arial" pitchFamily="34" charset="-120"/>
              </a:rPr>
              <a:t>Normas específicas de</a:t>
            </a:r>
            <a:endParaRPr lang="en-US" sz="2000" dirty="0"/>
          </a:p>
        </p:txBody>
      </p:sp>
      <p:sp>
        <p:nvSpPr>
          <p:cNvPr id="4" name="Text 2"/>
          <p:cNvSpPr txBox="1"/>
          <p:nvPr/>
        </p:nvSpPr>
        <p:spPr>
          <a:xfrm>
            <a:off x="548640" y="1828800"/>
            <a:ext cx="804672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Control Interno</a:t>
            </a:r>
            <a:endParaRPr lang="en-US" sz="4000" dirty="0"/>
          </a:p>
        </p:txBody>
      </p:sp>
      <p:sp>
        <p:nvSpPr>
          <p:cNvPr id="5" name="Text 3"/>
          <p:cNvSpPr txBox="1"/>
          <p:nvPr/>
        </p:nvSpPr>
        <p:spPr>
          <a:xfrm>
            <a:off x="548640" y="3154680"/>
            <a:ext cx="8046720" cy="320040"/>
          </a:xfrm>
          <a:prstGeom prst="rect">
            <a:avLst/>
          </a:prstGeom>
          <a:noFill/>
          <a:ln/>
        </p:spPr>
        <p:txBody>
          <a:bodyPr wrap="square" lIns="0" tIns="0" rIns="0" bIns="0" rtlCol="0" anchor="ctr"/>
          <a:lstStyle/>
          <a:p>
            <a:pPr indent="0" marL="0">
              <a:buNone/>
            </a:pPr>
            <a:r>
              <a:rPr lang="en-US" sz="1500" dirty="0">
                <a:solidFill>
                  <a:srgbClr val="E8A838"/>
                </a:solidFill>
                <a:latin typeface="Arial" pitchFamily="34" charset="0"/>
                <a:ea typeface="Arial" pitchFamily="34" charset="-122"/>
                <a:cs typeface="Arial" pitchFamily="34" charset="-120"/>
              </a:rPr>
              <a:t>Sistema de Compras normales</a:t>
            </a:r>
            <a:endParaRPr lang="en-US" sz="1500" dirty="0"/>
          </a:p>
        </p:txBody>
      </p:sp>
      <p:sp>
        <p:nvSpPr>
          <p:cNvPr id="6" name="Shape 4"/>
          <p:cNvSpPr/>
          <p:nvPr/>
        </p:nvSpPr>
        <p:spPr>
          <a:xfrm>
            <a:off x="0" y="4892040"/>
            <a:ext cx="9144000" cy="251460"/>
          </a:xfrm>
          <a:prstGeom prst="rect">
            <a:avLst/>
          </a:prstGeom>
          <a:solidFill>
            <a:srgbClr val="9DC8E8"/>
          </a:solidFill>
          <a:ln w="9525">
            <a:solidFill>
              <a:srgbClr val="9DC8E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CONTROL INTERNO · NORMAS 1, 2 Y 3</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Normas de control interno</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04</a:t>
            </a:r>
            <a:endParaRPr lang="en-US" sz="900" dirty="0"/>
          </a:p>
        </p:txBody>
      </p:sp>
      <p:sp>
        <p:nvSpPr>
          <p:cNvPr id="6" name="Shape 4"/>
          <p:cNvSpPr/>
          <p:nvPr/>
        </p:nvSpPr>
        <p:spPr>
          <a:xfrm>
            <a:off x="548640" y="1207008"/>
            <a:ext cx="8046720" cy="1115568"/>
          </a:xfrm>
          <a:prstGeom prst="rect">
            <a:avLst/>
          </a:prstGeom>
          <a:solidFill>
            <a:srgbClr val="F7F9FC"/>
          </a:solidFill>
          <a:ln w="9525">
            <a:solidFill>
              <a:srgbClr val="DDE4EE"/>
            </a:solidFill>
            <a:prstDash val="solid"/>
          </a:ln>
        </p:spPr>
      </p:sp>
      <p:sp>
        <p:nvSpPr>
          <p:cNvPr id="7" name="Shape 5"/>
          <p:cNvSpPr/>
          <p:nvPr/>
        </p:nvSpPr>
        <p:spPr>
          <a:xfrm>
            <a:off x="713232" y="1371600"/>
            <a:ext cx="384048" cy="384048"/>
          </a:xfrm>
          <a:prstGeom prst="ellipse">
            <a:avLst/>
          </a:prstGeom>
          <a:solidFill>
            <a:srgbClr val="1A2B4A"/>
          </a:solidFill>
          <a:ln w="9525">
            <a:solidFill>
              <a:srgbClr val="1A2B4A"/>
            </a:solidFill>
            <a:prstDash val="solid"/>
          </a:ln>
        </p:spPr>
      </p:sp>
      <p:sp>
        <p:nvSpPr>
          <p:cNvPr id="8" name="Text 6"/>
          <p:cNvSpPr txBox="1"/>
          <p:nvPr/>
        </p:nvSpPr>
        <p:spPr>
          <a:xfrm>
            <a:off x="713232" y="1371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280160" y="1335024"/>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Separación de funciones</a:t>
            </a:r>
            <a:endParaRPr lang="en-US" sz="1400" dirty="0"/>
          </a:p>
        </p:txBody>
      </p:sp>
      <p:sp>
        <p:nvSpPr>
          <p:cNvPr id="10" name="Text 8"/>
          <p:cNvSpPr txBox="1"/>
          <p:nvPr/>
        </p:nvSpPr>
        <p:spPr>
          <a:xfrm>
            <a:off x="1280160" y="1645920"/>
            <a:ext cx="7132320" cy="603504"/>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Compras debe estar separada de: Almacenes, Recepción, Cuentas a Pagar y Contabilidad. Nadie debe manejar físicamente los bienes y al mismo tiempo registrarlos o comprarlos.</a:t>
            </a:r>
            <a:endParaRPr lang="en-US" sz="1150" dirty="0"/>
          </a:p>
        </p:txBody>
      </p:sp>
      <p:sp>
        <p:nvSpPr>
          <p:cNvPr id="11" name="Shape 9"/>
          <p:cNvSpPr/>
          <p:nvPr/>
        </p:nvSpPr>
        <p:spPr>
          <a:xfrm>
            <a:off x="548640" y="2404872"/>
            <a:ext cx="8046720" cy="1115568"/>
          </a:xfrm>
          <a:prstGeom prst="rect">
            <a:avLst/>
          </a:prstGeom>
          <a:solidFill>
            <a:srgbClr val="F7F9FC"/>
          </a:solidFill>
          <a:ln w="9525">
            <a:solidFill>
              <a:srgbClr val="DDE4EE"/>
            </a:solidFill>
            <a:prstDash val="solid"/>
          </a:ln>
        </p:spPr>
      </p:sp>
      <p:sp>
        <p:nvSpPr>
          <p:cNvPr id="12" name="Shape 10"/>
          <p:cNvSpPr/>
          <p:nvPr/>
        </p:nvSpPr>
        <p:spPr>
          <a:xfrm>
            <a:off x="713232" y="2569464"/>
            <a:ext cx="384048" cy="384048"/>
          </a:xfrm>
          <a:prstGeom prst="ellipse">
            <a:avLst/>
          </a:prstGeom>
          <a:solidFill>
            <a:srgbClr val="1A2B4A"/>
          </a:solidFill>
          <a:ln w="9525">
            <a:solidFill>
              <a:srgbClr val="1A2B4A"/>
            </a:solidFill>
            <a:prstDash val="solid"/>
          </a:ln>
        </p:spPr>
      </p:sp>
      <p:sp>
        <p:nvSpPr>
          <p:cNvPr id="13" name="Text 11"/>
          <p:cNvSpPr txBox="1"/>
          <p:nvPr/>
        </p:nvSpPr>
        <p:spPr>
          <a:xfrm>
            <a:off x="713232" y="25694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1280160" y="2532888"/>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Iniciación formal del trámite de compras</a:t>
            </a:r>
            <a:endParaRPr lang="en-US" sz="1400" dirty="0"/>
          </a:p>
        </p:txBody>
      </p:sp>
      <p:sp>
        <p:nvSpPr>
          <p:cNvPr id="15" name="Text 13"/>
          <p:cNvSpPr txBox="1"/>
          <p:nvPr/>
        </p:nvSpPr>
        <p:spPr>
          <a:xfrm>
            <a:off x="1280160" y="2843784"/>
            <a:ext cx="7132320" cy="603504"/>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La operación debe iniciarse con una Solicitud de Compra (SC) firmada por un funcionario responsable, con especificaciones claras, concisas y verificables del bien o servicio requerido.</a:t>
            </a:r>
            <a:endParaRPr lang="en-US" sz="1150" dirty="0"/>
          </a:p>
        </p:txBody>
      </p:sp>
      <p:sp>
        <p:nvSpPr>
          <p:cNvPr id="16" name="Shape 14"/>
          <p:cNvSpPr/>
          <p:nvPr/>
        </p:nvSpPr>
        <p:spPr>
          <a:xfrm>
            <a:off x="548640" y="3602736"/>
            <a:ext cx="8046720" cy="1115568"/>
          </a:xfrm>
          <a:prstGeom prst="rect">
            <a:avLst/>
          </a:prstGeom>
          <a:solidFill>
            <a:srgbClr val="F7F9FC"/>
          </a:solidFill>
          <a:ln w="9525">
            <a:solidFill>
              <a:srgbClr val="DDE4EE"/>
            </a:solidFill>
            <a:prstDash val="solid"/>
          </a:ln>
        </p:spPr>
      </p:sp>
      <p:sp>
        <p:nvSpPr>
          <p:cNvPr id="17" name="Shape 15"/>
          <p:cNvSpPr/>
          <p:nvPr/>
        </p:nvSpPr>
        <p:spPr>
          <a:xfrm>
            <a:off x="713232" y="3767328"/>
            <a:ext cx="384048" cy="384048"/>
          </a:xfrm>
          <a:prstGeom prst="ellipse">
            <a:avLst/>
          </a:prstGeom>
          <a:solidFill>
            <a:srgbClr val="1A2B4A"/>
          </a:solidFill>
          <a:ln w="9525">
            <a:solidFill>
              <a:srgbClr val="1A2B4A"/>
            </a:solidFill>
            <a:prstDash val="solid"/>
          </a:ln>
        </p:spPr>
      </p:sp>
      <p:sp>
        <p:nvSpPr>
          <p:cNvPr id="18" name="Text 16"/>
          <p:cNvSpPr txBox="1"/>
          <p:nvPr/>
        </p:nvSpPr>
        <p:spPr>
          <a:xfrm>
            <a:off x="713232" y="37673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txBox="1"/>
          <p:nvPr/>
        </p:nvSpPr>
        <p:spPr>
          <a:xfrm>
            <a:off x="1280160" y="3730752"/>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Obtención de un número determinado de cotizaciones</a:t>
            </a:r>
            <a:endParaRPr lang="en-US" sz="1400" dirty="0"/>
          </a:p>
        </p:txBody>
      </p:sp>
      <p:sp>
        <p:nvSpPr>
          <p:cNvPr id="20" name="Text 18"/>
          <p:cNvSpPr txBox="1"/>
          <p:nvPr/>
        </p:nvSpPr>
        <p:spPr>
          <a:xfrm>
            <a:off x="1280160" y="4041648"/>
            <a:ext cx="7132320" cy="603504"/>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Para compras superiores a un monto determinado deben pedirse al menos 3 cotizaciones por escrito y en forma simultánea. Evita la discrecionalidad del responsable de Compras.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CONTROL INTERNO · NORMAS 4, 5 Y 6</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Normas de control interno</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05</a:t>
            </a:r>
            <a:endParaRPr lang="en-US" sz="900" dirty="0"/>
          </a:p>
        </p:txBody>
      </p:sp>
      <p:sp>
        <p:nvSpPr>
          <p:cNvPr id="6" name="Shape 4"/>
          <p:cNvSpPr/>
          <p:nvPr/>
        </p:nvSpPr>
        <p:spPr>
          <a:xfrm>
            <a:off x="548640" y="1207008"/>
            <a:ext cx="8046720" cy="1115568"/>
          </a:xfrm>
          <a:prstGeom prst="rect">
            <a:avLst/>
          </a:prstGeom>
          <a:solidFill>
            <a:srgbClr val="F7F9FC"/>
          </a:solidFill>
          <a:ln w="9525">
            <a:solidFill>
              <a:srgbClr val="DDE4EE"/>
            </a:solidFill>
            <a:prstDash val="solid"/>
          </a:ln>
        </p:spPr>
      </p:sp>
      <p:sp>
        <p:nvSpPr>
          <p:cNvPr id="7" name="Shape 5"/>
          <p:cNvSpPr/>
          <p:nvPr/>
        </p:nvSpPr>
        <p:spPr>
          <a:xfrm>
            <a:off x="713232" y="1371600"/>
            <a:ext cx="384048" cy="384048"/>
          </a:xfrm>
          <a:prstGeom prst="ellipse">
            <a:avLst/>
          </a:prstGeom>
          <a:solidFill>
            <a:srgbClr val="1A2B4A"/>
          </a:solidFill>
          <a:ln w="9525">
            <a:solidFill>
              <a:srgbClr val="1A2B4A"/>
            </a:solidFill>
            <a:prstDash val="solid"/>
          </a:ln>
        </p:spPr>
      </p:sp>
      <p:sp>
        <p:nvSpPr>
          <p:cNvPr id="8" name="Text 6"/>
          <p:cNvSpPr txBox="1"/>
          <p:nvPr/>
        </p:nvSpPr>
        <p:spPr>
          <a:xfrm>
            <a:off x="713232" y="1371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9" name="Text 7"/>
          <p:cNvSpPr txBox="1"/>
          <p:nvPr/>
        </p:nvSpPr>
        <p:spPr>
          <a:xfrm>
            <a:off x="1280160" y="1335024"/>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Autorización de la compra</a:t>
            </a:r>
            <a:endParaRPr lang="en-US" sz="1400" dirty="0"/>
          </a:p>
        </p:txBody>
      </p:sp>
      <p:sp>
        <p:nvSpPr>
          <p:cNvPr id="10" name="Text 8"/>
          <p:cNvSpPr txBox="1"/>
          <p:nvPr/>
        </p:nvSpPr>
        <p:spPr>
          <a:xfrm>
            <a:off x="1280160" y="1645920"/>
            <a:ext cx="7132320" cy="603504"/>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La decisión de cerrar contrato debe tomarla un funcionario responsable según su nivel de atribución. Debe intervenir con su firma la Orden de Compra (OC). Es conveniente fijar atribuciones según distintos niveles jerárquicos.</a:t>
            </a:r>
            <a:endParaRPr lang="en-US" sz="1150" dirty="0"/>
          </a:p>
        </p:txBody>
      </p:sp>
      <p:sp>
        <p:nvSpPr>
          <p:cNvPr id="11" name="Shape 9"/>
          <p:cNvSpPr/>
          <p:nvPr/>
        </p:nvSpPr>
        <p:spPr>
          <a:xfrm>
            <a:off x="548640" y="2404872"/>
            <a:ext cx="8046720" cy="1115568"/>
          </a:xfrm>
          <a:prstGeom prst="rect">
            <a:avLst/>
          </a:prstGeom>
          <a:solidFill>
            <a:srgbClr val="F7F9FC"/>
          </a:solidFill>
          <a:ln w="9525">
            <a:solidFill>
              <a:srgbClr val="DDE4EE"/>
            </a:solidFill>
            <a:prstDash val="solid"/>
          </a:ln>
        </p:spPr>
      </p:sp>
      <p:sp>
        <p:nvSpPr>
          <p:cNvPr id="12" name="Shape 10"/>
          <p:cNvSpPr/>
          <p:nvPr/>
        </p:nvSpPr>
        <p:spPr>
          <a:xfrm>
            <a:off x="713232" y="2569464"/>
            <a:ext cx="384048" cy="384048"/>
          </a:xfrm>
          <a:prstGeom prst="ellipse">
            <a:avLst/>
          </a:prstGeom>
          <a:solidFill>
            <a:srgbClr val="1A2B4A"/>
          </a:solidFill>
          <a:ln w="9525">
            <a:solidFill>
              <a:srgbClr val="1A2B4A"/>
            </a:solidFill>
            <a:prstDash val="solid"/>
          </a:ln>
        </p:spPr>
      </p:sp>
      <p:sp>
        <p:nvSpPr>
          <p:cNvPr id="13" name="Text 11"/>
          <p:cNvSpPr txBox="1"/>
          <p:nvPr/>
        </p:nvSpPr>
        <p:spPr>
          <a:xfrm>
            <a:off x="713232" y="25694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14" name="Text 12"/>
          <p:cNvSpPr txBox="1"/>
          <p:nvPr/>
        </p:nvSpPr>
        <p:spPr>
          <a:xfrm>
            <a:off x="1280160" y="2532888"/>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Punto de pedido y lote de compra</a:t>
            </a:r>
            <a:endParaRPr lang="en-US" sz="1400" dirty="0"/>
          </a:p>
        </p:txBody>
      </p:sp>
      <p:sp>
        <p:nvSpPr>
          <p:cNvPr id="15" name="Text 13"/>
          <p:cNvSpPr txBox="1"/>
          <p:nvPr/>
        </p:nvSpPr>
        <p:spPr>
          <a:xfrm>
            <a:off x="1280160" y="2843784"/>
            <a:ext cx="7132320" cy="603504"/>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Fijar el punto de pedido (stock mínimo + margen de seguridad) para no llegar al desabastecimiento. Determinar el lote óptimo de compra considerando costos asociados, carácter perecedero, incertidumbre de la demanda y espacio de almacenamiento.</a:t>
            </a:r>
            <a:endParaRPr lang="en-US" sz="1150" dirty="0"/>
          </a:p>
        </p:txBody>
      </p:sp>
      <p:sp>
        <p:nvSpPr>
          <p:cNvPr id="16" name="Shape 14"/>
          <p:cNvSpPr/>
          <p:nvPr/>
        </p:nvSpPr>
        <p:spPr>
          <a:xfrm>
            <a:off x="548640" y="3602736"/>
            <a:ext cx="8046720" cy="1115568"/>
          </a:xfrm>
          <a:prstGeom prst="rect">
            <a:avLst/>
          </a:prstGeom>
          <a:solidFill>
            <a:srgbClr val="F7F9FC"/>
          </a:solidFill>
          <a:ln w="9525">
            <a:solidFill>
              <a:srgbClr val="DDE4EE"/>
            </a:solidFill>
            <a:prstDash val="solid"/>
          </a:ln>
        </p:spPr>
      </p:sp>
      <p:sp>
        <p:nvSpPr>
          <p:cNvPr id="17" name="Shape 15"/>
          <p:cNvSpPr/>
          <p:nvPr/>
        </p:nvSpPr>
        <p:spPr>
          <a:xfrm>
            <a:off x="713232" y="3767328"/>
            <a:ext cx="384048" cy="384048"/>
          </a:xfrm>
          <a:prstGeom prst="ellipse">
            <a:avLst/>
          </a:prstGeom>
          <a:solidFill>
            <a:srgbClr val="1A2B4A"/>
          </a:solidFill>
          <a:ln w="9525">
            <a:solidFill>
              <a:srgbClr val="1A2B4A"/>
            </a:solidFill>
            <a:prstDash val="solid"/>
          </a:ln>
        </p:spPr>
      </p:sp>
      <p:sp>
        <p:nvSpPr>
          <p:cNvPr id="18" name="Text 16"/>
          <p:cNvSpPr txBox="1"/>
          <p:nvPr/>
        </p:nvSpPr>
        <p:spPr>
          <a:xfrm>
            <a:off x="713232" y="37673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19" name="Text 17"/>
          <p:cNvSpPr txBox="1"/>
          <p:nvPr/>
        </p:nvSpPr>
        <p:spPr>
          <a:xfrm>
            <a:off x="1280160" y="3730752"/>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Control de la mercadería recibida</a:t>
            </a:r>
            <a:endParaRPr lang="en-US" sz="1400" dirty="0"/>
          </a:p>
        </p:txBody>
      </p:sp>
      <p:sp>
        <p:nvSpPr>
          <p:cNvPr id="20" name="Text 18"/>
          <p:cNvSpPr txBox="1"/>
          <p:nvPr/>
        </p:nvSpPr>
        <p:spPr>
          <a:xfrm>
            <a:off x="1280160" y="4041648"/>
            <a:ext cx="7132320" cy="603504"/>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Verificar cantidad y calidad de los productos recibidos. Emitir reportes escritos. Si el control de calidad requiere conocimientos técnicos, la función se separa de Almacenes (que solo da conformidad por cantidad).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CONTROL INTERNO · NORMAS 7 Y 8</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Normas de control interno</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06</a:t>
            </a:r>
            <a:endParaRPr lang="en-US" sz="900" dirty="0"/>
          </a:p>
        </p:txBody>
      </p:sp>
      <p:sp>
        <p:nvSpPr>
          <p:cNvPr id="6" name="Shape 4"/>
          <p:cNvSpPr/>
          <p:nvPr/>
        </p:nvSpPr>
        <p:spPr>
          <a:xfrm>
            <a:off x="548640" y="1234440"/>
            <a:ext cx="8046720" cy="914400"/>
          </a:xfrm>
          <a:prstGeom prst="rect">
            <a:avLst/>
          </a:prstGeom>
          <a:solidFill>
            <a:srgbClr val="F7F9FC"/>
          </a:solidFill>
          <a:ln w="9525">
            <a:solidFill>
              <a:srgbClr val="DDE4EE"/>
            </a:solidFill>
            <a:prstDash val="solid"/>
          </a:ln>
        </p:spPr>
      </p:sp>
      <p:sp>
        <p:nvSpPr>
          <p:cNvPr id="7" name="Shape 5"/>
          <p:cNvSpPr/>
          <p:nvPr/>
        </p:nvSpPr>
        <p:spPr>
          <a:xfrm>
            <a:off x="713232" y="1399032"/>
            <a:ext cx="384048" cy="384048"/>
          </a:xfrm>
          <a:prstGeom prst="ellipse">
            <a:avLst/>
          </a:prstGeom>
          <a:solidFill>
            <a:srgbClr val="1A2B4A"/>
          </a:solidFill>
          <a:ln w="9525">
            <a:solidFill>
              <a:srgbClr val="1A2B4A"/>
            </a:solidFill>
            <a:prstDash val="solid"/>
          </a:ln>
        </p:spPr>
      </p:sp>
      <p:sp>
        <p:nvSpPr>
          <p:cNvPr id="8" name="Text 6"/>
          <p:cNvSpPr txBox="1"/>
          <p:nvPr/>
        </p:nvSpPr>
        <p:spPr>
          <a:xfrm>
            <a:off x="713232" y="1399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9" name="Text 7"/>
          <p:cNvSpPr txBox="1"/>
          <p:nvPr/>
        </p:nvSpPr>
        <p:spPr>
          <a:xfrm>
            <a:off x="1280160" y="1362456"/>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Constitución de seguros sobre mercadería en tránsito</a:t>
            </a:r>
            <a:endParaRPr lang="en-US" sz="1400" dirty="0"/>
          </a:p>
        </p:txBody>
      </p:sp>
      <p:sp>
        <p:nvSpPr>
          <p:cNvPr id="10" name="Text 8"/>
          <p:cNvSpPr txBox="1"/>
          <p:nvPr/>
        </p:nvSpPr>
        <p:spPr>
          <a:xfrm>
            <a:off x="1280160" y="1673352"/>
            <a:ext cx="7132320" cy="402336"/>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Se recomienda contratar seguros para cubrir el riesgo de traslado de los productos que viajan por cuenta y riesgo de la organización.</a:t>
            </a:r>
            <a:endParaRPr lang="en-US" sz="1150" dirty="0"/>
          </a:p>
        </p:txBody>
      </p:sp>
      <p:sp>
        <p:nvSpPr>
          <p:cNvPr id="11" name="Shape 9"/>
          <p:cNvSpPr/>
          <p:nvPr/>
        </p:nvSpPr>
        <p:spPr>
          <a:xfrm>
            <a:off x="548640" y="2286000"/>
            <a:ext cx="8046720" cy="2377440"/>
          </a:xfrm>
          <a:prstGeom prst="rect">
            <a:avLst/>
          </a:prstGeom>
          <a:solidFill>
            <a:srgbClr val="F7F9FC"/>
          </a:solidFill>
          <a:ln w="9525">
            <a:solidFill>
              <a:srgbClr val="DDE4EE"/>
            </a:solidFill>
            <a:prstDash val="solid"/>
          </a:ln>
        </p:spPr>
      </p:sp>
      <p:sp>
        <p:nvSpPr>
          <p:cNvPr id="12" name="Shape 10"/>
          <p:cNvSpPr/>
          <p:nvPr/>
        </p:nvSpPr>
        <p:spPr>
          <a:xfrm>
            <a:off x="713232" y="2450592"/>
            <a:ext cx="384048" cy="384048"/>
          </a:xfrm>
          <a:prstGeom prst="ellipse">
            <a:avLst/>
          </a:prstGeom>
          <a:solidFill>
            <a:srgbClr val="1A2B4A"/>
          </a:solidFill>
          <a:ln w="9525">
            <a:solidFill>
              <a:srgbClr val="1A2B4A"/>
            </a:solidFill>
            <a:prstDash val="solid"/>
          </a:ln>
        </p:spPr>
      </p:sp>
      <p:sp>
        <p:nvSpPr>
          <p:cNvPr id="13" name="Text 11"/>
          <p:cNvSpPr txBox="1"/>
          <p:nvPr/>
        </p:nvSpPr>
        <p:spPr>
          <a:xfrm>
            <a:off x="713232" y="2450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14" name="Text 12"/>
          <p:cNvSpPr txBox="1"/>
          <p:nvPr/>
        </p:nvSpPr>
        <p:spPr>
          <a:xfrm>
            <a:off x="1280160" y="2414016"/>
            <a:ext cx="7132320" cy="292608"/>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Pre-numeración de formularios</a:t>
            </a:r>
            <a:endParaRPr lang="en-US" sz="1400" dirty="0"/>
          </a:p>
        </p:txBody>
      </p:sp>
      <p:sp>
        <p:nvSpPr>
          <p:cNvPr id="15" name="Text 13"/>
          <p:cNvSpPr txBox="1"/>
          <p:nvPr/>
        </p:nvSpPr>
        <p:spPr>
          <a:xfrm>
            <a:off x="1280160" y="2724912"/>
            <a:ext cx="7132320" cy="1865376"/>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Arial" pitchFamily="34" charset="0"/>
                <a:ea typeface="Arial" pitchFamily="34" charset="-122"/>
                <a:cs typeface="Arial" pitchFamily="34" charset="-120"/>
              </a:rPr>
              <a:t>Los formularios que obligan a la organización o avalan movimiento de bienes deben estar numerados correlativamente. En el circuito de compras deben estar pre-numerados:</a:t>
            </a:r>
            <a:endParaRPr lang="en-US" sz="1150" dirty="0"/>
          </a:p>
        </p:txBody>
      </p:sp>
      <p:sp>
        <p:nvSpPr>
          <p:cNvPr id="16" name="Shape 14"/>
          <p:cNvSpPr/>
          <p:nvPr/>
        </p:nvSpPr>
        <p:spPr>
          <a:xfrm>
            <a:off x="1280160" y="3246120"/>
            <a:ext cx="1664208" cy="1188720"/>
          </a:xfrm>
          <a:prstGeom prst="rect">
            <a:avLst/>
          </a:prstGeom>
          <a:solidFill>
            <a:srgbClr val="FFFFFF"/>
          </a:solidFill>
          <a:ln w="12700">
            <a:solidFill>
              <a:srgbClr val="7FAED9"/>
            </a:solidFill>
            <a:prstDash val="solid"/>
          </a:ln>
        </p:spPr>
      </p:sp>
      <p:sp>
        <p:nvSpPr>
          <p:cNvPr id="17" name="Text 15"/>
          <p:cNvSpPr txBox="1"/>
          <p:nvPr/>
        </p:nvSpPr>
        <p:spPr>
          <a:xfrm>
            <a:off x="1280160" y="3337560"/>
            <a:ext cx="1664208" cy="274320"/>
          </a:xfrm>
          <a:prstGeom prst="rect">
            <a:avLst/>
          </a:prstGeom>
          <a:noFill/>
          <a:ln/>
        </p:spPr>
        <p:txBody>
          <a:bodyPr wrap="square" lIns="0" tIns="0" rIns="0" bIns="0" rtlCol="0" anchor="ctr"/>
          <a:lstStyle/>
          <a:p>
            <a:pPr algn="ctr" indent="0" marL="0">
              <a:buNone/>
            </a:pPr>
            <a:r>
              <a:rPr lang="en-US" sz="1000" b="1" spc="100" kern="0" dirty="0">
                <a:solidFill>
                  <a:srgbClr val="B9791C"/>
                </a:solidFill>
                <a:latin typeface="Arial" pitchFamily="34" charset="0"/>
                <a:ea typeface="Arial" pitchFamily="34" charset="-122"/>
                <a:cs typeface="Arial" pitchFamily="34" charset="-120"/>
              </a:rPr>
              <a:t>N° 0001</a:t>
            </a:r>
            <a:endParaRPr lang="en-US" sz="1000" dirty="0"/>
          </a:p>
        </p:txBody>
      </p:sp>
      <p:sp>
        <p:nvSpPr>
          <p:cNvPr id="18" name="Text 16"/>
          <p:cNvSpPr txBox="1"/>
          <p:nvPr/>
        </p:nvSpPr>
        <p:spPr>
          <a:xfrm>
            <a:off x="1371600" y="3611880"/>
            <a:ext cx="1481328" cy="731520"/>
          </a:xfrm>
          <a:prstGeom prst="rect">
            <a:avLst/>
          </a:prstGeom>
          <a:noFill/>
          <a:ln/>
        </p:spPr>
        <p:txBody>
          <a:bodyPr wrap="square" lIns="0" tIns="0" rIns="0" bIns="0" rtlCol="0" anchor="ctr"/>
          <a:lstStyle/>
          <a:p>
            <a:pPr algn="ctr" indent="0" marL="0">
              <a:buNone/>
            </a:pPr>
            <a:r>
              <a:rPr lang="en-US" sz="1200" b="1" dirty="0">
                <a:solidFill>
                  <a:srgbClr val="1A2B4A"/>
                </a:solidFill>
                <a:latin typeface="Arial" pitchFamily="34" charset="0"/>
                <a:ea typeface="Arial" pitchFamily="34" charset="-122"/>
                <a:cs typeface="Arial" pitchFamily="34" charset="-120"/>
              </a:rPr>
              <a:t>Solicitud de Compra (SC)</a:t>
            </a:r>
            <a:endParaRPr lang="en-US" sz="1200" dirty="0"/>
          </a:p>
        </p:txBody>
      </p:sp>
      <p:sp>
        <p:nvSpPr>
          <p:cNvPr id="19" name="Shape 17"/>
          <p:cNvSpPr/>
          <p:nvPr/>
        </p:nvSpPr>
        <p:spPr>
          <a:xfrm>
            <a:off x="3081528" y="3246120"/>
            <a:ext cx="1664208" cy="1188720"/>
          </a:xfrm>
          <a:prstGeom prst="rect">
            <a:avLst/>
          </a:prstGeom>
          <a:solidFill>
            <a:srgbClr val="FFFFFF"/>
          </a:solidFill>
          <a:ln w="12700">
            <a:solidFill>
              <a:srgbClr val="7FAED9"/>
            </a:solidFill>
            <a:prstDash val="solid"/>
          </a:ln>
        </p:spPr>
      </p:sp>
      <p:sp>
        <p:nvSpPr>
          <p:cNvPr id="20" name="Text 18"/>
          <p:cNvSpPr txBox="1"/>
          <p:nvPr/>
        </p:nvSpPr>
        <p:spPr>
          <a:xfrm>
            <a:off x="3081528" y="3337560"/>
            <a:ext cx="1664208" cy="274320"/>
          </a:xfrm>
          <a:prstGeom prst="rect">
            <a:avLst/>
          </a:prstGeom>
          <a:noFill/>
          <a:ln/>
        </p:spPr>
        <p:txBody>
          <a:bodyPr wrap="square" lIns="0" tIns="0" rIns="0" bIns="0" rtlCol="0" anchor="ctr"/>
          <a:lstStyle/>
          <a:p>
            <a:pPr algn="ctr" indent="0" marL="0">
              <a:buNone/>
            </a:pPr>
            <a:r>
              <a:rPr lang="en-US" sz="1000" b="1" spc="100" kern="0" dirty="0">
                <a:solidFill>
                  <a:srgbClr val="B9791C"/>
                </a:solidFill>
                <a:latin typeface="Arial" pitchFamily="34" charset="0"/>
                <a:ea typeface="Arial" pitchFamily="34" charset="-122"/>
                <a:cs typeface="Arial" pitchFamily="34" charset="-120"/>
              </a:rPr>
              <a:t>N° 0001</a:t>
            </a:r>
            <a:endParaRPr lang="en-US" sz="1000" dirty="0"/>
          </a:p>
        </p:txBody>
      </p:sp>
      <p:sp>
        <p:nvSpPr>
          <p:cNvPr id="21" name="Text 19"/>
          <p:cNvSpPr txBox="1"/>
          <p:nvPr/>
        </p:nvSpPr>
        <p:spPr>
          <a:xfrm>
            <a:off x="3172968" y="3611880"/>
            <a:ext cx="1481328" cy="731520"/>
          </a:xfrm>
          <a:prstGeom prst="rect">
            <a:avLst/>
          </a:prstGeom>
          <a:noFill/>
          <a:ln/>
        </p:spPr>
        <p:txBody>
          <a:bodyPr wrap="square" lIns="0" tIns="0" rIns="0" bIns="0" rtlCol="0" anchor="ctr"/>
          <a:lstStyle/>
          <a:p>
            <a:pPr algn="ctr" indent="0" marL="0">
              <a:buNone/>
            </a:pPr>
            <a:r>
              <a:rPr lang="en-US" sz="1200" b="1" dirty="0">
                <a:solidFill>
                  <a:srgbClr val="1A2B4A"/>
                </a:solidFill>
                <a:latin typeface="Arial" pitchFamily="34" charset="0"/>
                <a:ea typeface="Arial" pitchFamily="34" charset="-122"/>
                <a:cs typeface="Arial" pitchFamily="34" charset="-120"/>
              </a:rPr>
              <a:t>Orden de Compra (OC)</a:t>
            </a:r>
            <a:endParaRPr lang="en-US" sz="1200" dirty="0"/>
          </a:p>
        </p:txBody>
      </p:sp>
      <p:sp>
        <p:nvSpPr>
          <p:cNvPr id="22" name="Shape 20"/>
          <p:cNvSpPr/>
          <p:nvPr/>
        </p:nvSpPr>
        <p:spPr>
          <a:xfrm>
            <a:off x="4882896" y="3246120"/>
            <a:ext cx="1664208" cy="1188720"/>
          </a:xfrm>
          <a:prstGeom prst="rect">
            <a:avLst/>
          </a:prstGeom>
          <a:solidFill>
            <a:srgbClr val="FFFFFF"/>
          </a:solidFill>
          <a:ln w="12700">
            <a:solidFill>
              <a:srgbClr val="7FAED9"/>
            </a:solidFill>
            <a:prstDash val="solid"/>
          </a:ln>
        </p:spPr>
      </p:sp>
      <p:sp>
        <p:nvSpPr>
          <p:cNvPr id="23" name="Text 21"/>
          <p:cNvSpPr txBox="1"/>
          <p:nvPr/>
        </p:nvSpPr>
        <p:spPr>
          <a:xfrm>
            <a:off x="4882896" y="3337560"/>
            <a:ext cx="1664208" cy="274320"/>
          </a:xfrm>
          <a:prstGeom prst="rect">
            <a:avLst/>
          </a:prstGeom>
          <a:noFill/>
          <a:ln/>
        </p:spPr>
        <p:txBody>
          <a:bodyPr wrap="square" lIns="0" tIns="0" rIns="0" bIns="0" rtlCol="0" anchor="ctr"/>
          <a:lstStyle/>
          <a:p>
            <a:pPr algn="ctr" indent="0" marL="0">
              <a:buNone/>
            </a:pPr>
            <a:r>
              <a:rPr lang="en-US" sz="1000" b="1" spc="100" kern="0" dirty="0">
                <a:solidFill>
                  <a:srgbClr val="B9791C"/>
                </a:solidFill>
                <a:latin typeface="Arial" pitchFamily="34" charset="0"/>
                <a:ea typeface="Arial" pitchFamily="34" charset="-122"/>
                <a:cs typeface="Arial" pitchFamily="34" charset="-120"/>
              </a:rPr>
              <a:t>N° 0001</a:t>
            </a:r>
            <a:endParaRPr lang="en-US" sz="1000" dirty="0"/>
          </a:p>
        </p:txBody>
      </p:sp>
      <p:sp>
        <p:nvSpPr>
          <p:cNvPr id="24" name="Text 22"/>
          <p:cNvSpPr txBox="1"/>
          <p:nvPr/>
        </p:nvSpPr>
        <p:spPr>
          <a:xfrm>
            <a:off x="4974336" y="3611880"/>
            <a:ext cx="1481328" cy="731520"/>
          </a:xfrm>
          <a:prstGeom prst="rect">
            <a:avLst/>
          </a:prstGeom>
          <a:noFill/>
          <a:ln/>
        </p:spPr>
        <p:txBody>
          <a:bodyPr wrap="square" lIns="0" tIns="0" rIns="0" bIns="0" rtlCol="0" anchor="ctr"/>
          <a:lstStyle/>
          <a:p>
            <a:pPr algn="ctr" indent="0" marL="0">
              <a:buNone/>
            </a:pPr>
            <a:r>
              <a:rPr lang="en-US" sz="1200" b="1" dirty="0">
                <a:solidFill>
                  <a:srgbClr val="1A2B4A"/>
                </a:solidFill>
                <a:latin typeface="Arial" pitchFamily="34" charset="0"/>
                <a:ea typeface="Arial" pitchFamily="34" charset="-122"/>
                <a:cs typeface="Arial" pitchFamily="34" charset="-120"/>
              </a:rPr>
              <a:t>Informe de Recepción (IR)</a:t>
            </a:r>
            <a:endParaRPr lang="en-US" sz="1200" dirty="0"/>
          </a:p>
        </p:txBody>
      </p:sp>
      <p:sp>
        <p:nvSpPr>
          <p:cNvPr id="25" name="Shape 23"/>
          <p:cNvSpPr/>
          <p:nvPr/>
        </p:nvSpPr>
        <p:spPr>
          <a:xfrm>
            <a:off x="6684264" y="3246120"/>
            <a:ext cx="1664208" cy="1188720"/>
          </a:xfrm>
          <a:prstGeom prst="rect">
            <a:avLst/>
          </a:prstGeom>
          <a:solidFill>
            <a:srgbClr val="FFFFFF"/>
          </a:solidFill>
          <a:ln w="12700">
            <a:solidFill>
              <a:srgbClr val="7FAED9"/>
            </a:solidFill>
            <a:prstDash val="solid"/>
          </a:ln>
        </p:spPr>
      </p:sp>
      <p:sp>
        <p:nvSpPr>
          <p:cNvPr id="26" name="Text 24"/>
          <p:cNvSpPr txBox="1"/>
          <p:nvPr/>
        </p:nvSpPr>
        <p:spPr>
          <a:xfrm>
            <a:off x="6684264" y="3337560"/>
            <a:ext cx="1664208" cy="274320"/>
          </a:xfrm>
          <a:prstGeom prst="rect">
            <a:avLst/>
          </a:prstGeom>
          <a:noFill/>
          <a:ln/>
        </p:spPr>
        <p:txBody>
          <a:bodyPr wrap="square" lIns="0" tIns="0" rIns="0" bIns="0" rtlCol="0" anchor="ctr"/>
          <a:lstStyle/>
          <a:p>
            <a:pPr algn="ctr" indent="0" marL="0">
              <a:buNone/>
            </a:pPr>
            <a:r>
              <a:rPr lang="en-US" sz="1000" b="1" spc="100" kern="0" dirty="0">
                <a:solidFill>
                  <a:srgbClr val="B9791C"/>
                </a:solidFill>
                <a:latin typeface="Arial" pitchFamily="34" charset="0"/>
                <a:ea typeface="Arial" pitchFamily="34" charset="-122"/>
                <a:cs typeface="Arial" pitchFamily="34" charset="-120"/>
              </a:rPr>
              <a:t>N° 0001</a:t>
            </a:r>
            <a:endParaRPr lang="en-US" sz="1000" dirty="0"/>
          </a:p>
        </p:txBody>
      </p:sp>
      <p:sp>
        <p:nvSpPr>
          <p:cNvPr id="27" name="Text 25"/>
          <p:cNvSpPr txBox="1"/>
          <p:nvPr/>
        </p:nvSpPr>
        <p:spPr>
          <a:xfrm>
            <a:off x="6775704" y="3611880"/>
            <a:ext cx="1481328" cy="731520"/>
          </a:xfrm>
          <a:prstGeom prst="rect">
            <a:avLst/>
          </a:prstGeom>
          <a:noFill/>
          <a:ln/>
        </p:spPr>
        <p:txBody>
          <a:bodyPr wrap="square" lIns="0" tIns="0" rIns="0" bIns="0" rtlCol="0" anchor="ctr"/>
          <a:lstStyle/>
          <a:p>
            <a:pPr algn="ctr" indent="0" marL="0">
              <a:buNone/>
            </a:pPr>
            <a:r>
              <a:rPr lang="en-US" sz="1200" b="1" dirty="0">
                <a:solidFill>
                  <a:srgbClr val="1A2B4A"/>
                </a:solidFill>
                <a:latin typeface="Arial" pitchFamily="34" charset="0"/>
                <a:ea typeface="Arial" pitchFamily="34" charset="-122"/>
                <a:cs typeface="Arial" pitchFamily="34" charset="-120"/>
              </a:rPr>
              <a:t>Informe de Control de Calidad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B4A"/>
        </a:solidFill>
      </p:bgPr>
    </p:bg>
    <p:spTree>
      <p:nvGrpSpPr>
        <p:cNvPr id="1" name=""/>
        <p:cNvGrpSpPr/>
        <p:nvPr/>
      </p:nvGrpSpPr>
      <p:grpSpPr>
        <a:xfrm>
          <a:off x="0" y="0"/>
          <a:ext cx="0" cy="0"/>
          <a:chOff x="0" y="0"/>
          <a:chExt cx="0" cy="0"/>
        </a:xfrm>
      </p:grpSpPr>
      <p:sp>
        <p:nvSpPr>
          <p:cNvPr id="2" name="Text 0"/>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7FAED9"/>
                </a:solidFill>
                <a:latin typeface="Arial" pitchFamily="34" charset="0"/>
                <a:ea typeface="Arial" pitchFamily="34" charset="-122"/>
                <a:cs typeface="Arial" pitchFamily="34" charset="-120"/>
              </a:rPr>
              <a:t>07</a:t>
            </a:r>
            <a:endParaRPr lang="en-US" sz="900" dirty="0"/>
          </a:p>
        </p:txBody>
      </p:sp>
      <p:sp>
        <p:nvSpPr>
          <p:cNvPr id="3" name="Text 1"/>
          <p:cNvSpPr txBox="1"/>
          <p:nvPr/>
        </p:nvSpPr>
        <p:spPr>
          <a:xfrm>
            <a:off x="548640" y="1417320"/>
            <a:ext cx="8046720" cy="411480"/>
          </a:xfrm>
          <a:prstGeom prst="rect">
            <a:avLst/>
          </a:prstGeom>
          <a:noFill/>
          <a:ln/>
        </p:spPr>
        <p:txBody>
          <a:bodyPr wrap="square" lIns="0" tIns="0" rIns="0" bIns="0" rtlCol="0" anchor="ctr"/>
          <a:lstStyle/>
          <a:p>
            <a:pPr indent="0" marL="0">
              <a:buNone/>
            </a:pPr>
            <a:r>
              <a:rPr lang="en-US" sz="2000" dirty="0">
                <a:solidFill>
                  <a:srgbClr val="9DC8E8"/>
                </a:solidFill>
                <a:latin typeface="Arial" pitchFamily="34" charset="0"/>
                <a:ea typeface="Arial" pitchFamily="34" charset="-122"/>
                <a:cs typeface="Arial" pitchFamily="34" charset="-120"/>
              </a:rPr>
              <a:t>Los 6 subprocesos del</a:t>
            </a:r>
            <a:endParaRPr lang="en-US" sz="2000" dirty="0"/>
          </a:p>
        </p:txBody>
      </p:sp>
      <p:sp>
        <p:nvSpPr>
          <p:cNvPr id="4" name="Text 2"/>
          <p:cNvSpPr txBox="1"/>
          <p:nvPr/>
        </p:nvSpPr>
        <p:spPr>
          <a:xfrm>
            <a:off x="548640" y="1828800"/>
            <a:ext cx="8046720" cy="11887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Sistema de Compras Normales</a:t>
            </a:r>
            <a:endParaRPr lang="en-US" sz="4000" dirty="0"/>
          </a:p>
        </p:txBody>
      </p:sp>
      <p:sp>
        <p:nvSpPr>
          <p:cNvPr id="5" name="Shape 3"/>
          <p:cNvSpPr/>
          <p:nvPr/>
        </p:nvSpPr>
        <p:spPr>
          <a:xfrm>
            <a:off x="548640" y="3246120"/>
            <a:ext cx="1188720" cy="457200"/>
          </a:xfrm>
          <a:prstGeom prst="rect">
            <a:avLst/>
          </a:prstGeom>
          <a:solidFill>
            <a:srgbClr val="24375C"/>
          </a:solidFill>
          <a:ln w="9525">
            <a:solidFill>
              <a:srgbClr val="24375C"/>
            </a:solidFill>
            <a:prstDash val="solid"/>
          </a:ln>
        </p:spPr>
      </p:sp>
      <p:sp>
        <p:nvSpPr>
          <p:cNvPr id="6" name="Text 4"/>
          <p:cNvSpPr txBox="1"/>
          <p:nvPr/>
        </p:nvSpPr>
        <p:spPr>
          <a:xfrm>
            <a:off x="548640" y="3246120"/>
            <a:ext cx="1188720" cy="457200"/>
          </a:xfrm>
          <a:prstGeom prst="rect">
            <a:avLst/>
          </a:prstGeom>
          <a:noFill/>
          <a:ln/>
        </p:spPr>
        <p:txBody>
          <a:bodyPr wrap="square" lIns="0" tIns="0" rIns="0" bIns="0" rtlCol="0" anchor="ctr"/>
          <a:lstStyle/>
          <a:p>
            <a:pPr algn="ctr" indent="0" marL="0">
              <a:buNone/>
            </a:pPr>
            <a:r>
              <a:rPr lang="en-US" sz="1100" b="1" dirty="0">
                <a:solidFill>
                  <a:srgbClr val="E8A838"/>
                </a:solidFill>
                <a:latin typeface="Arial" pitchFamily="34" charset="0"/>
                <a:ea typeface="Arial" pitchFamily="34" charset="-122"/>
                <a:cs typeface="Arial" pitchFamily="34" charset="-120"/>
              </a:rPr>
              <a:t>SC</a:t>
            </a:r>
            <a:endParaRPr lang="en-US" sz="1100" dirty="0"/>
          </a:p>
        </p:txBody>
      </p:sp>
      <p:sp>
        <p:nvSpPr>
          <p:cNvPr id="7" name="Text 5"/>
          <p:cNvSpPr txBox="1"/>
          <p:nvPr/>
        </p:nvSpPr>
        <p:spPr>
          <a:xfrm>
            <a:off x="1737360" y="3246120"/>
            <a:ext cx="182880" cy="457200"/>
          </a:xfrm>
          <a:prstGeom prst="rect">
            <a:avLst/>
          </a:prstGeom>
          <a:noFill/>
          <a:ln/>
        </p:spPr>
        <p:txBody>
          <a:bodyPr wrap="square" lIns="0" tIns="0" rIns="0" bIns="0" rtlCol="0" anchor="ctr"/>
          <a:lstStyle/>
          <a:p>
            <a:pPr algn="ctr" indent="0" marL="0">
              <a:buNone/>
            </a:pPr>
            <a:r>
              <a:rPr lang="en-US" sz="1600" b="1" dirty="0">
                <a:solidFill>
                  <a:srgbClr val="9DC8E8"/>
                </a:solidFill>
                <a:latin typeface="Arial" pitchFamily="34" charset="0"/>
                <a:ea typeface="Arial" pitchFamily="34" charset="-122"/>
                <a:cs typeface="Arial" pitchFamily="34" charset="-120"/>
              </a:rPr>
              <a:t>›</a:t>
            </a:r>
            <a:endParaRPr lang="en-US" sz="1600" dirty="0"/>
          </a:p>
        </p:txBody>
      </p:sp>
      <p:sp>
        <p:nvSpPr>
          <p:cNvPr id="8" name="Shape 6"/>
          <p:cNvSpPr/>
          <p:nvPr/>
        </p:nvSpPr>
        <p:spPr>
          <a:xfrm>
            <a:off x="1920240" y="3246120"/>
            <a:ext cx="1188720" cy="457200"/>
          </a:xfrm>
          <a:prstGeom prst="rect">
            <a:avLst/>
          </a:prstGeom>
          <a:solidFill>
            <a:srgbClr val="24375C"/>
          </a:solidFill>
          <a:ln w="9525">
            <a:solidFill>
              <a:srgbClr val="24375C"/>
            </a:solidFill>
            <a:prstDash val="solid"/>
          </a:ln>
        </p:spPr>
      </p:sp>
      <p:sp>
        <p:nvSpPr>
          <p:cNvPr id="9" name="Text 7"/>
          <p:cNvSpPr txBox="1"/>
          <p:nvPr/>
        </p:nvSpPr>
        <p:spPr>
          <a:xfrm>
            <a:off x="1920240" y="3246120"/>
            <a:ext cx="1188720" cy="457200"/>
          </a:xfrm>
          <a:prstGeom prst="rect">
            <a:avLst/>
          </a:prstGeom>
          <a:noFill/>
          <a:ln/>
        </p:spPr>
        <p:txBody>
          <a:bodyPr wrap="square" lIns="0" tIns="0" rIns="0" bIns="0" rtlCol="0" anchor="ctr"/>
          <a:lstStyle/>
          <a:p>
            <a:pPr algn="ctr" indent="0" marL="0">
              <a:buNone/>
            </a:pPr>
            <a:r>
              <a:rPr lang="en-US" sz="1100" b="1" dirty="0">
                <a:solidFill>
                  <a:srgbClr val="E8A838"/>
                </a:solidFill>
                <a:latin typeface="Arial" pitchFamily="34" charset="0"/>
                <a:ea typeface="Arial" pitchFamily="34" charset="-122"/>
                <a:cs typeface="Arial" pitchFamily="34" charset="-120"/>
              </a:rPr>
              <a:t>Cotización</a:t>
            </a:r>
            <a:endParaRPr lang="en-US" sz="1100" dirty="0"/>
          </a:p>
        </p:txBody>
      </p:sp>
      <p:sp>
        <p:nvSpPr>
          <p:cNvPr id="10" name="Text 8"/>
          <p:cNvSpPr txBox="1"/>
          <p:nvPr/>
        </p:nvSpPr>
        <p:spPr>
          <a:xfrm>
            <a:off x="3108960" y="3246120"/>
            <a:ext cx="182880" cy="457200"/>
          </a:xfrm>
          <a:prstGeom prst="rect">
            <a:avLst/>
          </a:prstGeom>
          <a:noFill/>
          <a:ln/>
        </p:spPr>
        <p:txBody>
          <a:bodyPr wrap="square" lIns="0" tIns="0" rIns="0" bIns="0" rtlCol="0" anchor="ctr"/>
          <a:lstStyle/>
          <a:p>
            <a:pPr algn="ctr" indent="0" marL="0">
              <a:buNone/>
            </a:pPr>
            <a:r>
              <a:rPr lang="en-US" sz="1600" b="1" dirty="0">
                <a:solidFill>
                  <a:srgbClr val="9DC8E8"/>
                </a:solidFill>
                <a:latin typeface="Arial" pitchFamily="34" charset="0"/>
                <a:ea typeface="Arial" pitchFamily="34" charset="-122"/>
                <a:cs typeface="Arial" pitchFamily="34" charset="-120"/>
              </a:rPr>
              <a:t>›</a:t>
            </a:r>
            <a:endParaRPr lang="en-US" sz="1600" dirty="0"/>
          </a:p>
        </p:txBody>
      </p:sp>
      <p:sp>
        <p:nvSpPr>
          <p:cNvPr id="11" name="Shape 9"/>
          <p:cNvSpPr/>
          <p:nvPr/>
        </p:nvSpPr>
        <p:spPr>
          <a:xfrm>
            <a:off x="3291840" y="3246120"/>
            <a:ext cx="1188720" cy="457200"/>
          </a:xfrm>
          <a:prstGeom prst="rect">
            <a:avLst/>
          </a:prstGeom>
          <a:solidFill>
            <a:srgbClr val="24375C"/>
          </a:solidFill>
          <a:ln w="9525">
            <a:solidFill>
              <a:srgbClr val="24375C"/>
            </a:solidFill>
            <a:prstDash val="solid"/>
          </a:ln>
        </p:spPr>
      </p:sp>
      <p:sp>
        <p:nvSpPr>
          <p:cNvPr id="12" name="Text 10"/>
          <p:cNvSpPr txBox="1"/>
          <p:nvPr/>
        </p:nvSpPr>
        <p:spPr>
          <a:xfrm>
            <a:off x="3291840" y="3246120"/>
            <a:ext cx="1188720" cy="457200"/>
          </a:xfrm>
          <a:prstGeom prst="rect">
            <a:avLst/>
          </a:prstGeom>
          <a:noFill/>
          <a:ln/>
        </p:spPr>
        <p:txBody>
          <a:bodyPr wrap="square" lIns="0" tIns="0" rIns="0" bIns="0" rtlCol="0" anchor="ctr"/>
          <a:lstStyle/>
          <a:p>
            <a:pPr algn="ctr" indent="0" marL="0">
              <a:buNone/>
            </a:pPr>
            <a:r>
              <a:rPr lang="en-US" sz="1100" b="1" dirty="0">
                <a:solidFill>
                  <a:srgbClr val="E8A838"/>
                </a:solidFill>
                <a:latin typeface="Arial" pitchFamily="34" charset="0"/>
                <a:ea typeface="Arial" pitchFamily="34" charset="-122"/>
                <a:cs typeface="Arial" pitchFamily="34" charset="-120"/>
              </a:rPr>
              <a:t>Evaluación</a:t>
            </a:r>
            <a:endParaRPr lang="en-US" sz="1100" dirty="0"/>
          </a:p>
        </p:txBody>
      </p:sp>
      <p:sp>
        <p:nvSpPr>
          <p:cNvPr id="13" name="Text 11"/>
          <p:cNvSpPr txBox="1"/>
          <p:nvPr/>
        </p:nvSpPr>
        <p:spPr>
          <a:xfrm>
            <a:off x="4480560" y="3246120"/>
            <a:ext cx="182880" cy="457200"/>
          </a:xfrm>
          <a:prstGeom prst="rect">
            <a:avLst/>
          </a:prstGeom>
          <a:noFill/>
          <a:ln/>
        </p:spPr>
        <p:txBody>
          <a:bodyPr wrap="square" lIns="0" tIns="0" rIns="0" bIns="0" rtlCol="0" anchor="ctr"/>
          <a:lstStyle/>
          <a:p>
            <a:pPr algn="ctr" indent="0" marL="0">
              <a:buNone/>
            </a:pPr>
            <a:r>
              <a:rPr lang="en-US" sz="1600" b="1" dirty="0">
                <a:solidFill>
                  <a:srgbClr val="9DC8E8"/>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663440" y="3246120"/>
            <a:ext cx="1188720" cy="457200"/>
          </a:xfrm>
          <a:prstGeom prst="rect">
            <a:avLst/>
          </a:prstGeom>
          <a:solidFill>
            <a:srgbClr val="24375C"/>
          </a:solidFill>
          <a:ln w="9525">
            <a:solidFill>
              <a:srgbClr val="24375C"/>
            </a:solidFill>
            <a:prstDash val="solid"/>
          </a:ln>
        </p:spPr>
      </p:sp>
      <p:sp>
        <p:nvSpPr>
          <p:cNvPr id="15" name="Text 13"/>
          <p:cNvSpPr txBox="1"/>
          <p:nvPr/>
        </p:nvSpPr>
        <p:spPr>
          <a:xfrm>
            <a:off x="4663440" y="3246120"/>
            <a:ext cx="1188720" cy="457200"/>
          </a:xfrm>
          <a:prstGeom prst="rect">
            <a:avLst/>
          </a:prstGeom>
          <a:noFill/>
          <a:ln/>
        </p:spPr>
        <p:txBody>
          <a:bodyPr wrap="square" lIns="0" tIns="0" rIns="0" bIns="0" rtlCol="0" anchor="ctr"/>
          <a:lstStyle/>
          <a:p>
            <a:pPr algn="ctr" indent="0" marL="0">
              <a:buNone/>
            </a:pPr>
            <a:r>
              <a:rPr lang="en-US" sz="1100" b="1" dirty="0">
                <a:solidFill>
                  <a:srgbClr val="E8A838"/>
                </a:solidFill>
                <a:latin typeface="Arial" pitchFamily="34" charset="0"/>
                <a:ea typeface="Arial" pitchFamily="34" charset="-122"/>
                <a:cs typeface="Arial" pitchFamily="34" charset="-120"/>
              </a:rPr>
              <a:t>Adjudicación</a:t>
            </a:r>
            <a:endParaRPr lang="en-US" sz="1100" dirty="0"/>
          </a:p>
        </p:txBody>
      </p:sp>
      <p:sp>
        <p:nvSpPr>
          <p:cNvPr id="16" name="Text 14"/>
          <p:cNvSpPr txBox="1"/>
          <p:nvPr/>
        </p:nvSpPr>
        <p:spPr>
          <a:xfrm>
            <a:off x="5852160" y="3246120"/>
            <a:ext cx="182880" cy="457200"/>
          </a:xfrm>
          <a:prstGeom prst="rect">
            <a:avLst/>
          </a:prstGeom>
          <a:noFill/>
          <a:ln/>
        </p:spPr>
        <p:txBody>
          <a:bodyPr wrap="square" lIns="0" tIns="0" rIns="0" bIns="0" rtlCol="0" anchor="ctr"/>
          <a:lstStyle/>
          <a:p>
            <a:pPr algn="ctr" indent="0" marL="0">
              <a:buNone/>
            </a:pPr>
            <a:r>
              <a:rPr lang="en-US" sz="1600" b="1" dirty="0">
                <a:solidFill>
                  <a:srgbClr val="9DC8E8"/>
                </a:solidFill>
                <a:latin typeface="Arial" pitchFamily="34" charset="0"/>
                <a:ea typeface="Arial" pitchFamily="34" charset="-122"/>
                <a:cs typeface="Arial" pitchFamily="34" charset="-120"/>
              </a:rPr>
              <a:t>›</a:t>
            </a:r>
            <a:endParaRPr lang="en-US" sz="1600" dirty="0"/>
          </a:p>
        </p:txBody>
      </p:sp>
      <p:sp>
        <p:nvSpPr>
          <p:cNvPr id="17" name="Shape 15"/>
          <p:cNvSpPr/>
          <p:nvPr/>
        </p:nvSpPr>
        <p:spPr>
          <a:xfrm>
            <a:off x="6035040" y="3246120"/>
            <a:ext cx="1188720" cy="457200"/>
          </a:xfrm>
          <a:prstGeom prst="rect">
            <a:avLst/>
          </a:prstGeom>
          <a:solidFill>
            <a:srgbClr val="24375C"/>
          </a:solidFill>
          <a:ln w="9525">
            <a:solidFill>
              <a:srgbClr val="24375C"/>
            </a:solidFill>
            <a:prstDash val="solid"/>
          </a:ln>
        </p:spPr>
      </p:sp>
      <p:sp>
        <p:nvSpPr>
          <p:cNvPr id="18" name="Text 16"/>
          <p:cNvSpPr txBox="1"/>
          <p:nvPr/>
        </p:nvSpPr>
        <p:spPr>
          <a:xfrm>
            <a:off x="6035040" y="3246120"/>
            <a:ext cx="1188720" cy="457200"/>
          </a:xfrm>
          <a:prstGeom prst="rect">
            <a:avLst/>
          </a:prstGeom>
          <a:noFill/>
          <a:ln/>
        </p:spPr>
        <p:txBody>
          <a:bodyPr wrap="square" lIns="0" tIns="0" rIns="0" bIns="0" rtlCol="0" anchor="ctr"/>
          <a:lstStyle/>
          <a:p>
            <a:pPr algn="ctr" indent="0" marL="0">
              <a:buNone/>
            </a:pPr>
            <a:r>
              <a:rPr lang="en-US" sz="1100" b="1" dirty="0">
                <a:solidFill>
                  <a:srgbClr val="E8A838"/>
                </a:solidFill>
                <a:latin typeface="Arial" pitchFamily="34" charset="0"/>
                <a:ea typeface="Arial" pitchFamily="34" charset="-122"/>
                <a:cs typeface="Arial" pitchFamily="34" charset="-120"/>
              </a:rPr>
              <a:t>Recepción</a:t>
            </a:r>
            <a:endParaRPr lang="en-US" sz="1100" dirty="0"/>
          </a:p>
        </p:txBody>
      </p:sp>
      <p:sp>
        <p:nvSpPr>
          <p:cNvPr id="19" name="Text 17"/>
          <p:cNvSpPr txBox="1"/>
          <p:nvPr/>
        </p:nvSpPr>
        <p:spPr>
          <a:xfrm>
            <a:off x="7223760" y="3246120"/>
            <a:ext cx="182880" cy="457200"/>
          </a:xfrm>
          <a:prstGeom prst="rect">
            <a:avLst/>
          </a:prstGeom>
          <a:noFill/>
          <a:ln/>
        </p:spPr>
        <p:txBody>
          <a:bodyPr wrap="square" lIns="0" tIns="0" rIns="0" bIns="0" rtlCol="0" anchor="ctr"/>
          <a:lstStyle/>
          <a:p>
            <a:pPr algn="ctr" indent="0" marL="0">
              <a:buNone/>
            </a:pPr>
            <a:r>
              <a:rPr lang="en-US" sz="1600" b="1" dirty="0">
                <a:solidFill>
                  <a:srgbClr val="9DC8E8"/>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7406640" y="3246120"/>
            <a:ext cx="1188720" cy="457200"/>
          </a:xfrm>
          <a:prstGeom prst="rect">
            <a:avLst/>
          </a:prstGeom>
          <a:solidFill>
            <a:srgbClr val="24375C"/>
          </a:solidFill>
          <a:ln w="9525">
            <a:solidFill>
              <a:srgbClr val="24375C"/>
            </a:solidFill>
            <a:prstDash val="solid"/>
          </a:ln>
        </p:spPr>
      </p:sp>
      <p:sp>
        <p:nvSpPr>
          <p:cNvPr id="21" name="Text 19"/>
          <p:cNvSpPr txBox="1"/>
          <p:nvPr/>
        </p:nvSpPr>
        <p:spPr>
          <a:xfrm>
            <a:off x="7406640" y="3246120"/>
            <a:ext cx="1188720" cy="457200"/>
          </a:xfrm>
          <a:prstGeom prst="rect">
            <a:avLst/>
          </a:prstGeom>
          <a:noFill/>
          <a:ln/>
        </p:spPr>
        <p:txBody>
          <a:bodyPr wrap="square" lIns="0" tIns="0" rIns="0" bIns="0" rtlCol="0" anchor="ctr"/>
          <a:lstStyle/>
          <a:p>
            <a:pPr algn="ctr" indent="0" marL="0">
              <a:buNone/>
            </a:pPr>
            <a:r>
              <a:rPr lang="en-US" sz="1100" b="1" dirty="0">
                <a:solidFill>
                  <a:srgbClr val="E8A838"/>
                </a:solidFill>
                <a:latin typeface="Arial" pitchFamily="34" charset="0"/>
                <a:ea typeface="Arial" pitchFamily="34" charset="-122"/>
                <a:cs typeface="Arial" pitchFamily="34" charset="-120"/>
              </a:rPr>
              <a:t>Contabilización</a:t>
            </a:r>
            <a:endParaRPr lang="en-US" sz="1100" dirty="0"/>
          </a:p>
        </p:txBody>
      </p:sp>
      <p:sp>
        <p:nvSpPr>
          <p:cNvPr id="22" name="Shape 20"/>
          <p:cNvSpPr/>
          <p:nvPr/>
        </p:nvSpPr>
        <p:spPr>
          <a:xfrm>
            <a:off x="0" y="4892040"/>
            <a:ext cx="9144000" cy="251460"/>
          </a:xfrm>
          <a:prstGeom prst="rect">
            <a:avLst/>
          </a:prstGeom>
          <a:solidFill>
            <a:srgbClr val="9DC8E8"/>
          </a:solidFill>
          <a:ln w="9525">
            <a:solidFill>
              <a:srgbClr val="9DC8E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SUBPROCESOS 1 Y 2</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Subprocesos del Sistema de Compras</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08</a:t>
            </a:r>
            <a:endParaRPr lang="en-US" sz="900" dirty="0"/>
          </a:p>
        </p:txBody>
      </p:sp>
      <p:sp>
        <p:nvSpPr>
          <p:cNvPr id="6" name="Shape 4"/>
          <p:cNvSpPr/>
          <p:nvPr/>
        </p:nvSpPr>
        <p:spPr>
          <a:xfrm>
            <a:off x="548640" y="1234440"/>
            <a:ext cx="3886200" cy="3154680"/>
          </a:xfrm>
          <a:prstGeom prst="rect">
            <a:avLst/>
          </a:prstGeom>
          <a:solidFill>
            <a:srgbClr val="F7F9FC"/>
          </a:solidFill>
          <a:ln w="9525">
            <a:solidFill>
              <a:srgbClr val="DDE4EE"/>
            </a:solidFill>
            <a:prstDash val="solid"/>
          </a:ln>
        </p:spPr>
      </p:sp>
      <p:sp>
        <p:nvSpPr>
          <p:cNvPr id="7" name="Shape 5"/>
          <p:cNvSpPr/>
          <p:nvPr/>
        </p:nvSpPr>
        <p:spPr>
          <a:xfrm>
            <a:off x="548640" y="1234440"/>
            <a:ext cx="3886200" cy="777240"/>
          </a:xfrm>
          <a:prstGeom prst="rect">
            <a:avLst/>
          </a:prstGeom>
          <a:solidFill>
            <a:srgbClr val="1A2B4A"/>
          </a:solidFill>
          <a:ln w="9525">
            <a:solidFill>
              <a:srgbClr val="1A2B4A"/>
            </a:solidFill>
            <a:prstDash val="solid"/>
          </a:ln>
        </p:spPr>
      </p:sp>
      <p:sp>
        <p:nvSpPr>
          <p:cNvPr id="8" name="Text 6"/>
          <p:cNvSpPr txBox="1"/>
          <p:nvPr/>
        </p:nvSpPr>
        <p:spPr>
          <a:xfrm>
            <a:off x="685800" y="1234440"/>
            <a:ext cx="502920" cy="777240"/>
          </a:xfrm>
          <a:prstGeom prst="rect">
            <a:avLst/>
          </a:prstGeom>
          <a:noFill/>
          <a:ln/>
        </p:spPr>
        <p:txBody>
          <a:bodyPr wrap="square" lIns="0" tIns="0" rIns="0" bIns="0" rtlCol="0" anchor="ctr"/>
          <a:lstStyle/>
          <a:p>
            <a:pPr indent="0" marL="0">
              <a:buNone/>
            </a:pPr>
            <a:r>
              <a:rPr lang="en-US" sz="3000" b="1" dirty="0">
                <a:solidFill>
                  <a:srgbClr val="E8A838"/>
                </a:solidFill>
                <a:latin typeface="Arial" pitchFamily="34" charset="0"/>
                <a:ea typeface="Arial" pitchFamily="34" charset="-122"/>
                <a:cs typeface="Arial" pitchFamily="34" charset="-120"/>
              </a:rPr>
              <a:t>1</a:t>
            </a:r>
            <a:endParaRPr lang="en-US" sz="3000" dirty="0"/>
          </a:p>
        </p:txBody>
      </p:sp>
      <p:sp>
        <p:nvSpPr>
          <p:cNvPr id="9" name="Text 7"/>
          <p:cNvSpPr txBox="1"/>
          <p:nvPr/>
        </p:nvSpPr>
        <p:spPr>
          <a:xfrm>
            <a:off x="1234440" y="1234440"/>
            <a:ext cx="306324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Recepción y verificación de la Solicitud de Compra (SC)</a:t>
            </a:r>
            <a:endParaRPr lang="en-US" sz="1400" dirty="0"/>
          </a:p>
        </p:txBody>
      </p:sp>
      <p:sp>
        <p:nvSpPr>
          <p:cNvPr id="10" name="Text 8"/>
          <p:cNvSpPr txBox="1"/>
          <p:nvPr/>
        </p:nvSpPr>
        <p:spPr>
          <a:xfrm>
            <a:off x="749808" y="2148840"/>
            <a:ext cx="3474720" cy="2468880"/>
          </a:xfrm>
          <a:prstGeom prst="rect">
            <a:avLst/>
          </a:prstGeom>
          <a:noFill/>
          <a:ln/>
        </p:spPr>
        <p:txBody>
          <a:bodyPr wrap="square" lIns="0" tIns="0" rIns="0" bIns="0" rtlCol="0" anchor="t"/>
          <a:lstStyle/>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Inicia cuando Almacenes llega al punto de pedido y </a:t>
            </a:r>
            <a:pPr indent="0" marL="0">
              <a:lnSpc>
                <a:spcPct val="115000"/>
              </a:lnSpc>
              <a:spcAft>
                <a:spcPts val="400"/>
              </a:spcAft>
              <a:buNone/>
            </a:pPr>
            <a:r>
              <a:rPr lang="en-US" sz="1200" b="1" dirty="0">
                <a:solidFill>
                  <a:srgbClr val="3D7CB0"/>
                </a:solidFill>
                <a:latin typeface="Arial" pitchFamily="34" charset="0"/>
                <a:ea typeface="Arial" pitchFamily="34" charset="-122"/>
                <a:cs typeface="Arial" pitchFamily="34" charset="-120"/>
              </a:rPr>
              <a:t>confecciona la SC</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a:t>
            </a:r>
            <a:pPr indent="0" marL="0">
              <a:lnSpc>
                <a:spcPct val="115000"/>
              </a:lnSpc>
              <a:spcAft>
                <a:spcPts val="400"/>
              </a:spcAft>
              <a:buNone/>
            </a:pPr>
            <a:endParaRPr lang="en-US" sz="1200" dirty="0"/>
          </a:p>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Compras verifica:</a:t>
            </a:r>
            <a:pPr indent="0" marL="0">
              <a:lnSpc>
                <a:spcPct val="115000"/>
              </a:lnSpc>
              <a:spcAft>
                <a:spcPts val="400"/>
              </a:spcAft>
              <a:buNone/>
            </a:pPr>
            <a:endParaRPr lang="en-US" sz="1200" dirty="0"/>
          </a:p>
          <a:p>
            <a:pPr indent="0" marL="0">
              <a:lnSpc>
                <a:spcPct val="115000"/>
              </a:lnSpc>
              <a:spcAft>
                <a:spcPts val="400"/>
              </a:spcAft>
              <a:buNone/>
            </a:pPr>
            <a:r>
              <a:rPr lang="en-US" sz="1200" b="1" dirty="0">
                <a:solidFill>
                  <a:srgbClr val="1A2B4A"/>
                </a:solidFill>
                <a:latin typeface="Arial" pitchFamily="34" charset="0"/>
                <a:ea typeface="Arial" pitchFamily="34" charset="-122"/>
                <a:cs typeface="Arial" pitchFamily="34" charset="-120"/>
              </a:rPr>
              <a:t>(1) que esté dentro del plan/presupuesto anual de compras</a:t>
            </a:r>
            <a:pPr indent="0" marL="0">
              <a:lnSpc>
                <a:spcPct val="115000"/>
              </a:lnSpc>
              <a:spcAft>
                <a:spcPts val="400"/>
              </a:spcAft>
              <a:buNone/>
            </a:pPr>
            <a:endParaRPr lang="en-US" sz="1200" dirty="0"/>
          </a:p>
          <a:p>
            <a:pPr indent="0" marL="0">
              <a:lnSpc>
                <a:spcPct val="115000"/>
              </a:lnSpc>
              <a:spcAft>
                <a:spcPts val="400"/>
              </a:spcAft>
              <a:buNone/>
            </a:pPr>
            <a:r>
              <a:rPr lang="en-US" sz="1200" b="1" dirty="0">
                <a:solidFill>
                  <a:srgbClr val="1A2B4A"/>
                </a:solidFill>
                <a:latin typeface="Arial" pitchFamily="34" charset="0"/>
                <a:ea typeface="Arial" pitchFamily="34" charset="-122"/>
                <a:cs typeface="Arial" pitchFamily="34" charset="-120"/>
              </a:rPr>
              <a:t>(2) que tenga la firma del responsable del área solicitante</a:t>
            </a:r>
            <a:pPr indent="0" marL="0">
              <a:lnSpc>
                <a:spcPct val="115000"/>
              </a:lnSpc>
              <a:spcAft>
                <a:spcPts val="400"/>
              </a:spcAft>
              <a:buNone/>
            </a:pPr>
            <a:endParaRPr lang="en-US" sz="1200" dirty="0"/>
          </a:p>
          <a:p>
            <a:pPr indent="0" marL="0">
              <a:lnSpc>
                <a:spcPct val="115000"/>
              </a:lnSpc>
              <a:spcAft>
                <a:spcPts val="400"/>
              </a:spcAft>
              <a:buNone/>
            </a:pPr>
            <a:r>
              <a:rPr lang="en-US" sz="1200" i="1" dirty="0">
                <a:solidFill>
                  <a:srgbClr val="64748B"/>
                </a:solidFill>
                <a:latin typeface="Arial" pitchFamily="34" charset="0"/>
                <a:ea typeface="Arial" pitchFamily="34" charset="-122"/>
                <a:cs typeface="Arial" pitchFamily="34" charset="-120"/>
              </a:rPr>
              <a:t>Si no cumple alguno de estos puntos → se solicita su subsanación.</a:t>
            </a:r>
            <a:endParaRPr lang="en-US" sz="1200" dirty="0"/>
          </a:p>
        </p:txBody>
      </p:sp>
      <p:sp>
        <p:nvSpPr>
          <p:cNvPr id="11" name="Shape 9"/>
          <p:cNvSpPr/>
          <p:nvPr/>
        </p:nvSpPr>
        <p:spPr>
          <a:xfrm>
            <a:off x="4709160" y="1234440"/>
            <a:ext cx="3886200" cy="3154680"/>
          </a:xfrm>
          <a:prstGeom prst="rect">
            <a:avLst/>
          </a:prstGeom>
          <a:solidFill>
            <a:srgbClr val="F7F9FC"/>
          </a:solidFill>
          <a:ln w="9525">
            <a:solidFill>
              <a:srgbClr val="DDE4EE"/>
            </a:solidFill>
            <a:prstDash val="solid"/>
          </a:ln>
        </p:spPr>
      </p:sp>
      <p:sp>
        <p:nvSpPr>
          <p:cNvPr id="12" name="Shape 10"/>
          <p:cNvSpPr/>
          <p:nvPr/>
        </p:nvSpPr>
        <p:spPr>
          <a:xfrm>
            <a:off x="4709160" y="1234440"/>
            <a:ext cx="3886200" cy="777240"/>
          </a:xfrm>
          <a:prstGeom prst="rect">
            <a:avLst/>
          </a:prstGeom>
          <a:solidFill>
            <a:srgbClr val="9DC8E8"/>
          </a:solidFill>
          <a:ln w="9525">
            <a:solidFill>
              <a:srgbClr val="9DC8E8"/>
            </a:solidFill>
            <a:prstDash val="solid"/>
          </a:ln>
        </p:spPr>
      </p:sp>
      <p:sp>
        <p:nvSpPr>
          <p:cNvPr id="13" name="Text 11"/>
          <p:cNvSpPr txBox="1"/>
          <p:nvPr/>
        </p:nvSpPr>
        <p:spPr>
          <a:xfrm>
            <a:off x="4846320" y="1234440"/>
            <a:ext cx="502920" cy="777240"/>
          </a:xfrm>
          <a:prstGeom prst="rect">
            <a:avLst/>
          </a:prstGeom>
          <a:noFill/>
          <a:ln/>
        </p:spPr>
        <p:txBody>
          <a:bodyPr wrap="square" lIns="0" tIns="0" rIns="0" bIns="0" rtlCol="0" anchor="ctr"/>
          <a:lstStyle/>
          <a:p>
            <a:pPr indent="0" marL="0">
              <a:buNone/>
            </a:pPr>
            <a:r>
              <a:rPr lang="en-US" sz="3000" b="1" dirty="0">
                <a:solidFill>
                  <a:srgbClr val="1A2B4A"/>
                </a:solidFill>
                <a:latin typeface="Arial" pitchFamily="34" charset="0"/>
                <a:ea typeface="Arial" pitchFamily="34" charset="-122"/>
                <a:cs typeface="Arial" pitchFamily="34" charset="-120"/>
              </a:rPr>
              <a:t>2</a:t>
            </a:r>
            <a:endParaRPr lang="en-US" sz="3000" dirty="0"/>
          </a:p>
        </p:txBody>
      </p:sp>
      <p:sp>
        <p:nvSpPr>
          <p:cNvPr id="14" name="Text 12"/>
          <p:cNvSpPr txBox="1"/>
          <p:nvPr/>
        </p:nvSpPr>
        <p:spPr>
          <a:xfrm>
            <a:off x="5394960" y="1234440"/>
            <a:ext cx="3063240" cy="777240"/>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Selección de proveedores y pedido de cotización</a:t>
            </a:r>
            <a:endParaRPr lang="en-US" sz="1400" dirty="0"/>
          </a:p>
        </p:txBody>
      </p:sp>
      <p:sp>
        <p:nvSpPr>
          <p:cNvPr id="15" name="Text 13"/>
          <p:cNvSpPr txBox="1"/>
          <p:nvPr/>
        </p:nvSpPr>
        <p:spPr>
          <a:xfrm>
            <a:off x="4910328" y="2148840"/>
            <a:ext cx="3474720" cy="2468880"/>
          </a:xfrm>
          <a:prstGeom prst="rect">
            <a:avLst/>
          </a:prstGeom>
          <a:noFill/>
          <a:ln/>
        </p:spPr>
        <p:txBody>
          <a:bodyPr wrap="square" lIns="0" tIns="0" rIns="0" bIns="0" rtlCol="0" anchor="t"/>
          <a:lstStyle/>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Se consulta el registro de proveedores y se emite el </a:t>
            </a:r>
            <a:pPr indent="0" marL="0">
              <a:lnSpc>
                <a:spcPct val="115000"/>
              </a:lnSpc>
              <a:spcAft>
                <a:spcPts val="400"/>
              </a:spcAft>
              <a:buNone/>
            </a:pPr>
            <a:r>
              <a:rPr lang="en-US" sz="1200" b="1" dirty="0">
                <a:solidFill>
                  <a:srgbClr val="3D7CB0"/>
                </a:solidFill>
                <a:latin typeface="Arial" pitchFamily="34" charset="0"/>
                <a:ea typeface="Arial" pitchFamily="34" charset="-122"/>
                <a:cs typeface="Arial" pitchFamily="34" charset="-120"/>
              </a:rPr>
              <a:t>Pedido de Cotización (PC)</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 a varios proveedores en forma simultánea y por escrito.</a:t>
            </a:r>
            <a:pPr indent="0" marL="0">
              <a:lnSpc>
                <a:spcPct val="115000"/>
              </a:lnSpc>
              <a:spcAft>
                <a:spcPts val="400"/>
              </a:spcAft>
              <a:buNone/>
            </a:pPr>
            <a:endParaRPr lang="en-US" sz="1200" dirty="0"/>
          </a:p>
          <a:p>
            <a:pPr indent="0" marL="0">
              <a:lnSpc>
                <a:spcPct val="115000"/>
              </a:lnSpc>
              <a:spcAft>
                <a:spcPts val="400"/>
              </a:spcAft>
              <a:buNone/>
            </a:pPr>
            <a:r>
              <a:rPr lang="en-US" sz="1200" i="1" dirty="0">
                <a:solidFill>
                  <a:srgbClr val="64748B"/>
                </a:solidFill>
                <a:latin typeface="Arial" pitchFamily="34" charset="0"/>
                <a:ea typeface="Arial" pitchFamily="34" charset="-122"/>
                <a:cs typeface="Arial" pitchFamily="34" charset="-120"/>
              </a:rPr>
              <a:t>Evita que la elección quede librada al criterio personal del encargado de Compras.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SUBPROCESOS 3 Y 4</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Subprocesos del Sistema de Compras</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09</a:t>
            </a:r>
            <a:endParaRPr lang="en-US" sz="900" dirty="0"/>
          </a:p>
        </p:txBody>
      </p:sp>
      <p:sp>
        <p:nvSpPr>
          <p:cNvPr id="6" name="Shape 4"/>
          <p:cNvSpPr/>
          <p:nvPr/>
        </p:nvSpPr>
        <p:spPr>
          <a:xfrm>
            <a:off x="548640" y="1234440"/>
            <a:ext cx="3886200" cy="3154680"/>
          </a:xfrm>
          <a:prstGeom prst="rect">
            <a:avLst/>
          </a:prstGeom>
          <a:solidFill>
            <a:srgbClr val="F7F9FC"/>
          </a:solidFill>
          <a:ln w="9525">
            <a:solidFill>
              <a:srgbClr val="DDE4EE"/>
            </a:solidFill>
            <a:prstDash val="solid"/>
          </a:ln>
        </p:spPr>
      </p:sp>
      <p:sp>
        <p:nvSpPr>
          <p:cNvPr id="7" name="Shape 5"/>
          <p:cNvSpPr/>
          <p:nvPr/>
        </p:nvSpPr>
        <p:spPr>
          <a:xfrm>
            <a:off x="548640" y="1234440"/>
            <a:ext cx="3886200" cy="777240"/>
          </a:xfrm>
          <a:prstGeom prst="rect">
            <a:avLst/>
          </a:prstGeom>
          <a:solidFill>
            <a:srgbClr val="1A2B4A"/>
          </a:solidFill>
          <a:ln w="9525">
            <a:solidFill>
              <a:srgbClr val="1A2B4A"/>
            </a:solidFill>
            <a:prstDash val="solid"/>
          </a:ln>
        </p:spPr>
      </p:sp>
      <p:sp>
        <p:nvSpPr>
          <p:cNvPr id="8" name="Text 6"/>
          <p:cNvSpPr txBox="1"/>
          <p:nvPr/>
        </p:nvSpPr>
        <p:spPr>
          <a:xfrm>
            <a:off x="685800" y="1234440"/>
            <a:ext cx="502920" cy="777240"/>
          </a:xfrm>
          <a:prstGeom prst="rect">
            <a:avLst/>
          </a:prstGeom>
          <a:noFill/>
          <a:ln/>
        </p:spPr>
        <p:txBody>
          <a:bodyPr wrap="square" lIns="0" tIns="0" rIns="0" bIns="0" rtlCol="0" anchor="ctr"/>
          <a:lstStyle/>
          <a:p>
            <a:pPr indent="0" marL="0">
              <a:buNone/>
            </a:pPr>
            <a:r>
              <a:rPr lang="en-US" sz="3000" b="1" dirty="0">
                <a:solidFill>
                  <a:srgbClr val="E8A838"/>
                </a:solidFill>
                <a:latin typeface="Arial" pitchFamily="34" charset="0"/>
                <a:ea typeface="Arial" pitchFamily="34" charset="-122"/>
                <a:cs typeface="Arial" pitchFamily="34" charset="-120"/>
              </a:rPr>
              <a:t>3</a:t>
            </a:r>
            <a:endParaRPr lang="en-US" sz="3000" dirty="0"/>
          </a:p>
        </p:txBody>
      </p:sp>
      <p:sp>
        <p:nvSpPr>
          <p:cNvPr id="9" name="Text 7"/>
          <p:cNvSpPr txBox="1"/>
          <p:nvPr/>
        </p:nvSpPr>
        <p:spPr>
          <a:xfrm>
            <a:off x="1234440" y="1234440"/>
            <a:ext cx="306324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Evaluación de ofertas</a:t>
            </a:r>
            <a:endParaRPr lang="en-US" sz="1400" dirty="0"/>
          </a:p>
        </p:txBody>
      </p:sp>
      <p:sp>
        <p:nvSpPr>
          <p:cNvPr id="10" name="Text 8"/>
          <p:cNvSpPr txBox="1"/>
          <p:nvPr/>
        </p:nvSpPr>
        <p:spPr>
          <a:xfrm>
            <a:off x="749808" y="2148840"/>
            <a:ext cx="3474720" cy="2468880"/>
          </a:xfrm>
          <a:prstGeom prst="rect">
            <a:avLst/>
          </a:prstGeom>
          <a:noFill/>
          <a:ln/>
        </p:spPr>
        <p:txBody>
          <a:bodyPr wrap="square" lIns="0" tIns="0" rIns="0" bIns="0" rtlCol="0" anchor="t"/>
          <a:lstStyle/>
          <a:p>
            <a:pPr indent="0" marL="0">
              <a:lnSpc>
                <a:spcPct val="115000"/>
              </a:lnSpc>
              <a:spcAft>
                <a:spcPts val="400"/>
              </a:spcAft>
              <a:buNone/>
            </a:pPr>
            <a:r>
              <a:rPr lang="en-US" sz="1200" b="1" dirty="0">
                <a:solidFill>
                  <a:srgbClr val="1A2B4A"/>
                </a:solidFill>
                <a:latin typeface="Arial" pitchFamily="34" charset="0"/>
                <a:ea typeface="Arial" pitchFamily="34" charset="-122"/>
                <a:cs typeface="Arial" pitchFamily="34" charset="-120"/>
              </a:rPr>
              <a:t>Se evalúan las cotizaciones recibidas considerando: </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precio, calidad, financiación, plazo de entrega, referencias del proveedor, solvencia y continuidad de suministros.</a:t>
            </a:r>
            <a:pPr indent="0" marL="0">
              <a:lnSpc>
                <a:spcPct val="115000"/>
              </a:lnSpc>
              <a:spcAft>
                <a:spcPts val="400"/>
              </a:spcAft>
              <a:buNone/>
            </a:pPr>
            <a:endParaRPr lang="en-US" sz="1200" dirty="0"/>
          </a:p>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Se confecciona una </a:t>
            </a:r>
            <a:pPr indent="0" marL="0">
              <a:lnSpc>
                <a:spcPct val="115000"/>
              </a:lnSpc>
              <a:spcAft>
                <a:spcPts val="400"/>
              </a:spcAft>
              <a:buNone/>
            </a:pPr>
            <a:r>
              <a:rPr lang="en-US" sz="1200" b="1" dirty="0">
                <a:solidFill>
                  <a:srgbClr val="3D7CB0"/>
                </a:solidFill>
                <a:latin typeface="Arial" pitchFamily="34" charset="0"/>
                <a:ea typeface="Arial" pitchFamily="34" charset="-122"/>
                <a:cs typeface="Arial" pitchFamily="34" charset="-120"/>
              </a:rPr>
              <a:t>planilla de análisis de cotizaciones</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 para comparar todas las ofertas en un resumen útil.</a:t>
            </a:r>
            <a:endParaRPr lang="en-US" sz="1200" dirty="0"/>
          </a:p>
        </p:txBody>
      </p:sp>
      <p:sp>
        <p:nvSpPr>
          <p:cNvPr id="11" name="Shape 9"/>
          <p:cNvSpPr/>
          <p:nvPr/>
        </p:nvSpPr>
        <p:spPr>
          <a:xfrm>
            <a:off x="4709160" y="1234440"/>
            <a:ext cx="3886200" cy="3154680"/>
          </a:xfrm>
          <a:prstGeom prst="rect">
            <a:avLst/>
          </a:prstGeom>
          <a:solidFill>
            <a:srgbClr val="F7F9FC"/>
          </a:solidFill>
          <a:ln w="9525">
            <a:solidFill>
              <a:srgbClr val="DDE4EE"/>
            </a:solidFill>
            <a:prstDash val="solid"/>
          </a:ln>
        </p:spPr>
      </p:sp>
      <p:sp>
        <p:nvSpPr>
          <p:cNvPr id="12" name="Shape 10"/>
          <p:cNvSpPr/>
          <p:nvPr/>
        </p:nvSpPr>
        <p:spPr>
          <a:xfrm>
            <a:off x="4709160" y="1234440"/>
            <a:ext cx="3886200" cy="777240"/>
          </a:xfrm>
          <a:prstGeom prst="rect">
            <a:avLst/>
          </a:prstGeom>
          <a:solidFill>
            <a:srgbClr val="9DC8E8"/>
          </a:solidFill>
          <a:ln w="9525">
            <a:solidFill>
              <a:srgbClr val="9DC8E8"/>
            </a:solidFill>
            <a:prstDash val="solid"/>
          </a:ln>
        </p:spPr>
      </p:sp>
      <p:sp>
        <p:nvSpPr>
          <p:cNvPr id="13" name="Text 11"/>
          <p:cNvSpPr txBox="1"/>
          <p:nvPr/>
        </p:nvSpPr>
        <p:spPr>
          <a:xfrm>
            <a:off x="4846320" y="1234440"/>
            <a:ext cx="502920" cy="777240"/>
          </a:xfrm>
          <a:prstGeom prst="rect">
            <a:avLst/>
          </a:prstGeom>
          <a:noFill/>
          <a:ln/>
        </p:spPr>
        <p:txBody>
          <a:bodyPr wrap="square" lIns="0" tIns="0" rIns="0" bIns="0" rtlCol="0" anchor="ctr"/>
          <a:lstStyle/>
          <a:p>
            <a:pPr indent="0" marL="0">
              <a:buNone/>
            </a:pPr>
            <a:r>
              <a:rPr lang="en-US" sz="3000" b="1" dirty="0">
                <a:solidFill>
                  <a:srgbClr val="1A2B4A"/>
                </a:solidFill>
                <a:latin typeface="Arial" pitchFamily="34" charset="0"/>
                <a:ea typeface="Arial" pitchFamily="34" charset="-122"/>
                <a:cs typeface="Arial" pitchFamily="34" charset="-120"/>
              </a:rPr>
              <a:t>4</a:t>
            </a:r>
            <a:endParaRPr lang="en-US" sz="3000" dirty="0"/>
          </a:p>
        </p:txBody>
      </p:sp>
      <p:sp>
        <p:nvSpPr>
          <p:cNvPr id="14" name="Text 12"/>
          <p:cNvSpPr txBox="1"/>
          <p:nvPr/>
        </p:nvSpPr>
        <p:spPr>
          <a:xfrm>
            <a:off x="5394960" y="1234440"/>
            <a:ext cx="3063240" cy="777240"/>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Adjudicación</a:t>
            </a:r>
            <a:endParaRPr lang="en-US" sz="1400" dirty="0"/>
          </a:p>
        </p:txBody>
      </p:sp>
      <p:sp>
        <p:nvSpPr>
          <p:cNvPr id="15" name="Text 13"/>
          <p:cNvSpPr txBox="1"/>
          <p:nvPr/>
        </p:nvSpPr>
        <p:spPr>
          <a:xfrm>
            <a:off x="4910328" y="2148840"/>
            <a:ext cx="3474720" cy="2468880"/>
          </a:xfrm>
          <a:prstGeom prst="rect">
            <a:avLst/>
          </a:prstGeom>
          <a:noFill/>
          <a:ln/>
        </p:spPr>
        <p:txBody>
          <a:bodyPr wrap="square" lIns="0" tIns="0" rIns="0" bIns="0" rtlCol="0" anchor="t"/>
          <a:lstStyle/>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Se emite la </a:t>
            </a:r>
            <a:pPr indent="0" marL="0">
              <a:lnSpc>
                <a:spcPct val="115000"/>
              </a:lnSpc>
              <a:spcAft>
                <a:spcPts val="400"/>
              </a:spcAft>
              <a:buNone/>
            </a:pPr>
            <a:r>
              <a:rPr lang="en-US" sz="1200" b="1" dirty="0">
                <a:solidFill>
                  <a:srgbClr val="3D7CB0"/>
                </a:solidFill>
                <a:latin typeface="Arial" pitchFamily="34" charset="0"/>
                <a:ea typeface="Arial" pitchFamily="34" charset="-122"/>
                <a:cs typeface="Arial" pitchFamily="34" charset="-120"/>
              </a:rPr>
              <a:t>Orden de Compra (OC)</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 firmada por el responsable del área. El original va al proveedor. Copias a: Recepción y Cuentas a Pagar.</a:t>
            </a:r>
            <a:pPr indent="0" marL="0">
              <a:lnSpc>
                <a:spcPct val="115000"/>
              </a:lnSpc>
              <a:spcAft>
                <a:spcPts val="400"/>
              </a:spcAft>
              <a:buNone/>
            </a:pPr>
            <a:endParaRPr lang="en-US" sz="1200" dirty="0"/>
          </a:p>
          <a:p>
            <a:pPr indent="0" marL="0">
              <a:lnSpc>
                <a:spcPct val="115000"/>
              </a:lnSpc>
              <a:spcAft>
                <a:spcPts val="400"/>
              </a:spcAft>
              <a:buNone/>
            </a:pPr>
            <a:r>
              <a:rPr lang="en-US" sz="1200" i="1" dirty="0">
                <a:solidFill>
                  <a:srgbClr val="64748B"/>
                </a:solidFill>
                <a:latin typeface="Arial" pitchFamily="34" charset="0"/>
                <a:ea typeface="Arial" pitchFamily="34" charset="-122"/>
                <a:cs typeface="Arial" pitchFamily="34" charset="-120"/>
              </a:rPr>
              <a:t>Con la OC el proveedor queda obligado a cumplir con el suministro en las condiciones especificadas.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SUBPROCESOS 5 Y 6</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Subprocesos del Sistema de Compras</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10</a:t>
            </a:r>
            <a:endParaRPr lang="en-US" sz="900" dirty="0"/>
          </a:p>
        </p:txBody>
      </p:sp>
      <p:sp>
        <p:nvSpPr>
          <p:cNvPr id="6" name="Shape 4"/>
          <p:cNvSpPr/>
          <p:nvPr/>
        </p:nvSpPr>
        <p:spPr>
          <a:xfrm>
            <a:off x="548640" y="1234440"/>
            <a:ext cx="3886200" cy="3154680"/>
          </a:xfrm>
          <a:prstGeom prst="rect">
            <a:avLst/>
          </a:prstGeom>
          <a:solidFill>
            <a:srgbClr val="F7F9FC"/>
          </a:solidFill>
          <a:ln w="9525">
            <a:solidFill>
              <a:srgbClr val="DDE4EE"/>
            </a:solidFill>
            <a:prstDash val="solid"/>
          </a:ln>
        </p:spPr>
      </p:sp>
      <p:sp>
        <p:nvSpPr>
          <p:cNvPr id="7" name="Shape 5"/>
          <p:cNvSpPr/>
          <p:nvPr/>
        </p:nvSpPr>
        <p:spPr>
          <a:xfrm>
            <a:off x="548640" y="1234440"/>
            <a:ext cx="3886200" cy="777240"/>
          </a:xfrm>
          <a:prstGeom prst="rect">
            <a:avLst/>
          </a:prstGeom>
          <a:solidFill>
            <a:srgbClr val="1A2B4A"/>
          </a:solidFill>
          <a:ln w="9525">
            <a:solidFill>
              <a:srgbClr val="1A2B4A"/>
            </a:solidFill>
            <a:prstDash val="solid"/>
          </a:ln>
        </p:spPr>
      </p:sp>
      <p:sp>
        <p:nvSpPr>
          <p:cNvPr id="8" name="Text 6"/>
          <p:cNvSpPr txBox="1"/>
          <p:nvPr/>
        </p:nvSpPr>
        <p:spPr>
          <a:xfrm>
            <a:off x="685800" y="1234440"/>
            <a:ext cx="502920" cy="777240"/>
          </a:xfrm>
          <a:prstGeom prst="rect">
            <a:avLst/>
          </a:prstGeom>
          <a:noFill/>
          <a:ln/>
        </p:spPr>
        <p:txBody>
          <a:bodyPr wrap="square" lIns="0" tIns="0" rIns="0" bIns="0" rtlCol="0" anchor="ctr"/>
          <a:lstStyle/>
          <a:p>
            <a:pPr indent="0" marL="0">
              <a:buNone/>
            </a:pPr>
            <a:r>
              <a:rPr lang="en-US" sz="3000" b="1" dirty="0">
                <a:solidFill>
                  <a:srgbClr val="E8A838"/>
                </a:solidFill>
                <a:latin typeface="Arial" pitchFamily="34" charset="0"/>
                <a:ea typeface="Arial" pitchFamily="34" charset="-122"/>
                <a:cs typeface="Arial" pitchFamily="34" charset="-120"/>
              </a:rPr>
              <a:t>5</a:t>
            </a:r>
            <a:endParaRPr lang="en-US" sz="3000" dirty="0"/>
          </a:p>
        </p:txBody>
      </p:sp>
      <p:sp>
        <p:nvSpPr>
          <p:cNvPr id="9" name="Text 7"/>
          <p:cNvSpPr txBox="1"/>
          <p:nvPr/>
        </p:nvSpPr>
        <p:spPr>
          <a:xfrm>
            <a:off x="1234440" y="1234440"/>
            <a:ext cx="306324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Recepción e ingreso de los bienes</a:t>
            </a:r>
            <a:endParaRPr lang="en-US" sz="1400" dirty="0"/>
          </a:p>
        </p:txBody>
      </p:sp>
      <p:sp>
        <p:nvSpPr>
          <p:cNvPr id="10" name="Text 8"/>
          <p:cNvSpPr txBox="1"/>
          <p:nvPr/>
        </p:nvSpPr>
        <p:spPr>
          <a:xfrm>
            <a:off x="749808" y="2148840"/>
            <a:ext cx="3474720" cy="2468880"/>
          </a:xfrm>
          <a:prstGeom prst="rect">
            <a:avLst/>
          </a:prstGeom>
          <a:noFill/>
          <a:ln/>
        </p:spPr>
        <p:txBody>
          <a:bodyPr wrap="square" lIns="0" tIns="0" rIns="0" bIns="0" rtlCol="0" anchor="t"/>
          <a:lstStyle/>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Recepción verifica los bienes contra la OC y el remito del proveedor. Si es correcto: </a:t>
            </a:r>
            <a:pPr indent="0" marL="0">
              <a:lnSpc>
                <a:spcPct val="115000"/>
              </a:lnSpc>
              <a:spcAft>
                <a:spcPts val="400"/>
              </a:spcAft>
              <a:buNone/>
            </a:pPr>
            <a:r>
              <a:rPr lang="en-US" sz="1200" b="1" dirty="0">
                <a:solidFill>
                  <a:srgbClr val="1A2B4A"/>
                </a:solidFill>
                <a:latin typeface="Arial" pitchFamily="34" charset="0"/>
                <a:ea typeface="Arial" pitchFamily="34" charset="-122"/>
                <a:cs typeface="Arial" pitchFamily="34" charset="-120"/>
              </a:rPr>
              <a:t>devuelve el remito conformado</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 al proveedor conservando una copia.</a:t>
            </a:r>
            <a:pPr indent="0" marL="0">
              <a:lnSpc>
                <a:spcPct val="115000"/>
              </a:lnSpc>
              <a:spcAft>
                <a:spcPts val="400"/>
              </a:spcAft>
              <a:buNone/>
            </a:pPr>
            <a:endParaRPr lang="en-US" sz="1200" dirty="0"/>
          </a:p>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Emite el </a:t>
            </a:r>
            <a:pPr indent="0" marL="0">
              <a:lnSpc>
                <a:spcPct val="115000"/>
              </a:lnSpc>
              <a:spcAft>
                <a:spcPts val="400"/>
              </a:spcAft>
              <a:buNone/>
            </a:pPr>
            <a:r>
              <a:rPr lang="en-US" sz="1200" b="1" dirty="0">
                <a:solidFill>
                  <a:srgbClr val="3D7CB0"/>
                </a:solidFill>
                <a:latin typeface="Arial" pitchFamily="34" charset="0"/>
                <a:ea typeface="Arial" pitchFamily="34" charset="-122"/>
                <a:cs typeface="Arial" pitchFamily="34" charset="-120"/>
              </a:rPr>
              <a:t>Informe de Recepción (IR)</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 y envía los bienes a Almacenes con un remito interno.</a:t>
            </a:r>
            <a:pPr indent="0" marL="0">
              <a:lnSpc>
                <a:spcPct val="115000"/>
              </a:lnSpc>
              <a:spcAft>
                <a:spcPts val="400"/>
              </a:spcAft>
              <a:buNone/>
            </a:pPr>
            <a:endParaRPr lang="en-US" sz="1200" dirty="0"/>
          </a:p>
          <a:p>
            <a:pPr indent="0" marL="0">
              <a:lnSpc>
                <a:spcPct val="115000"/>
              </a:lnSpc>
              <a:spcAft>
                <a:spcPts val="400"/>
              </a:spcAft>
              <a:buNone/>
            </a:pPr>
            <a:r>
              <a:rPr lang="en-US" sz="1200" i="1" dirty="0">
                <a:solidFill>
                  <a:srgbClr val="64748B"/>
                </a:solidFill>
                <a:latin typeface="Arial" pitchFamily="34" charset="0"/>
                <a:ea typeface="Arial" pitchFamily="34" charset="-122"/>
                <a:cs typeface="Arial" pitchFamily="34" charset="-120"/>
              </a:rPr>
              <a:t>Almacenes toma conocimiento, controla la mercadería y la ingresa en la contabilidad de almacenes.</a:t>
            </a:r>
            <a:endParaRPr lang="en-US" sz="1200" dirty="0"/>
          </a:p>
        </p:txBody>
      </p:sp>
      <p:sp>
        <p:nvSpPr>
          <p:cNvPr id="11" name="Shape 9"/>
          <p:cNvSpPr/>
          <p:nvPr/>
        </p:nvSpPr>
        <p:spPr>
          <a:xfrm>
            <a:off x="4709160" y="1234440"/>
            <a:ext cx="3886200" cy="3154680"/>
          </a:xfrm>
          <a:prstGeom prst="rect">
            <a:avLst/>
          </a:prstGeom>
          <a:solidFill>
            <a:srgbClr val="F7F9FC"/>
          </a:solidFill>
          <a:ln w="9525">
            <a:solidFill>
              <a:srgbClr val="DDE4EE"/>
            </a:solidFill>
            <a:prstDash val="solid"/>
          </a:ln>
        </p:spPr>
      </p:sp>
      <p:sp>
        <p:nvSpPr>
          <p:cNvPr id="12" name="Shape 10"/>
          <p:cNvSpPr/>
          <p:nvPr/>
        </p:nvSpPr>
        <p:spPr>
          <a:xfrm>
            <a:off x="4709160" y="1234440"/>
            <a:ext cx="3886200" cy="777240"/>
          </a:xfrm>
          <a:prstGeom prst="rect">
            <a:avLst/>
          </a:prstGeom>
          <a:solidFill>
            <a:srgbClr val="9DC8E8"/>
          </a:solidFill>
          <a:ln w="9525">
            <a:solidFill>
              <a:srgbClr val="9DC8E8"/>
            </a:solidFill>
            <a:prstDash val="solid"/>
          </a:ln>
        </p:spPr>
      </p:sp>
      <p:sp>
        <p:nvSpPr>
          <p:cNvPr id="13" name="Text 11"/>
          <p:cNvSpPr txBox="1"/>
          <p:nvPr/>
        </p:nvSpPr>
        <p:spPr>
          <a:xfrm>
            <a:off x="4846320" y="1234440"/>
            <a:ext cx="502920" cy="777240"/>
          </a:xfrm>
          <a:prstGeom prst="rect">
            <a:avLst/>
          </a:prstGeom>
          <a:noFill/>
          <a:ln/>
        </p:spPr>
        <p:txBody>
          <a:bodyPr wrap="square" lIns="0" tIns="0" rIns="0" bIns="0" rtlCol="0" anchor="ctr"/>
          <a:lstStyle/>
          <a:p>
            <a:pPr indent="0" marL="0">
              <a:buNone/>
            </a:pPr>
            <a:r>
              <a:rPr lang="en-US" sz="3000" b="1" dirty="0">
                <a:solidFill>
                  <a:srgbClr val="1A2B4A"/>
                </a:solidFill>
                <a:latin typeface="Arial" pitchFamily="34" charset="0"/>
                <a:ea typeface="Arial" pitchFamily="34" charset="-122"/>
                <a:cs typeface="Arial" pitchFamily="34" charset="-120"/>
              </a:rPr>
              <a:t>6</a:t>
            </a:r>
            <a:endParaRPr lang="en-US" sz="3000" dirty="0"/>
          </a:p>
        </p:txBody>
      </p:sp>
      <p:sp>
        <p:nvSpPr>
          <p:cNvPr id="14" name="Text 12"/>
          <p:cNvSpPr txBox="1"/>
          <p:nvPr/>
        </p:nvSpPr>
        <p:spPr>
          <a:xfrm>
            <a:off x="5394960" y="1234440"/>
            <a:ext cx="3063240" cy="777240"/>
          </a:xfrm>
          <a:prstGeom prst="rect">
            <a:avLst/>
          </a:prstGeom>
          <a:noFill/>
          <a:ln/>
        </p:spPr>
        <p:txBody>
          <a:bodyPr wrap="square" lIns="0" tIns="0" rIns="0" bIns="0" rtlCol="0" anchor="ctr"/>
          <a:lstStyle/>
          <a:p>
            <a:pPr indent="0" marL="0">
              <a:buNone/>
            </a:pPr>
            <a:r>
              <a:rPr lang="en-US" sz="1400" b="1" dirty="0">
                <a:solidFill>
                  <a:srgbClr val="1A2B4A"/>
                </a:solidFill>
                <a:latin typeface="Arial" pitchFamily="34" charset="0"/>
                <a:ea typeface="Arial" pitchFamily="34" charset="-122"/>
                <a:cs typeface="Arial" pitchFamily="34" charset="-120"/>
              </a:rPr>
              <a:t>Contabilización</a:t>
            </a:r>
            <a:endParaRPr lang="en-US" sz="1400" dirty="0"/>
          </a:p>
        </p:txBody>
      </p:sp>
      <p:sp>
        <p:nvSpPr>
          <p:cNvPr id="15" name="Text 13"/>
          <p:cNvSpPr txBox="1"/>
          <p:nvPr/>
        </p:nvSpPr>
        <p:spPr>
          <a:xfrm>
            <a:off x="4910328" y="2148840"/>
            <a:ext cx="3474720" cy="2468880"/>
          </a:xfrm>
          <a:prstGeom prst="rect">
            <a:avLst/>
          </a:prstGeom>
          <a:noFill/>
          <a:ln/>
        </p:spPr>
        <p:txBody>
          <a:bodyPr wrap="square" lIns="0" tIns="0" rIns="0" bIns="0" rtlCol="0" anchor="t"/>
          <a:lstStyle/>
          <a:p>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Contaduría toma conocimiento de la gestión realizada por Compras y Almacenes, </a:t>
            </a:r>
            <a:pPr indent="0" marL="0">
              <a:lnSpc>
                <a:spcPct val="115000"/>
              </a:lnSpc>
              <a:spcAft>
                <a:spcPts val="400"/>
              </a:spcAft>
              <a:buNone/>
            </a:pPr>
            <a:r>
              <a:rPr lang="en-US" sz="1200" b="1" dirty="0">
                <a:solidFill>
                  <a:srgbClr val="1A2B4A"/>
                </a:solidFill>
                <a:latin typeface="Arial" pitchFamily="34" charset="0"/>
                <a:ea typeface="Arial" pitchFamily="34" charset="-122"/>
                <a:cs typeface="Arial" pitchFamily="34" charset="-120"/>
              </a:rPr>
              <a:t>controla la consistencia de la información</a:t>
            </a:r>
            <a:pPr indent="0" marL="0">
              <a:lnSpc>
                <a:spcPct val="115000"/>
              </a:lnSpc>
              <a:spcAft>
                <a:spcPts val="400"/>
              </a:spcAft>
              <a:buNone/>
            </a:pPr>
            <a:r>
              <a:rPr lang="en-US" sz="1200" dirty="0">
                <a:solidFill>
                  <a:srgbClr val="334155"/>
                </a:solidFill>
                <a:latin typeface="Arial" pitchFamily="34" charset="0"/>
                <a:ea typeface="Arial" pitchFamily="34" charset="-122"/>
                <a:cs typeface="Arial" pitchFamily="34" charset="-120"/>
              </a:rPr>
              <a:t> y realiza la registración en la Contabilidad General.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SISTEMA DE COMPRAS NORMALES</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Resumen de subprocesos</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11</a:t>
            </a:r>
            <a:endParaRPr lang="en-US" sz="900" dirty="0"/>
          </a:p>
        </p:txBody>
      </p:sp>
      <p:sp>
        <p:nvSpPr>
          <p:cNvPr id="6" name="Shape 4"/>
          <p:cNvSpPr/>
          <p:nvPr/>
        </p:nvSpPr>
        <p:spPr>
          <a:xfrm>
            <a:off x="548640" y="1234440"/>
            <a:ext cx="1225296" cy="2331720"/>
          </a:xfrm>
          <a:prstGeom prst="rect">
            <a:avLst/>
          </a:prstGeom>
          <a:solidFill>
            <a:srgbClr val="F7F9FC"/>
          </a:solidFill>
          <a:ln w="9525">
            <a:solidFill>
              <a:srgbClr val="DDE4EE"/>
            </a:solidFill>
            <a:prstDash val="solid"/>
          </a:ln>
        </p:spPr>
      </p:sp>
      <p:sp>
        <p:nvSpPr>
          <p:cNvPr id="7" name="Shape 5"/>
          <p:cNvSpPr/>
          <p:nvPr/>
        </p:nvSpPr>
        <p:spPr>
          <a:xfrm>
            <a:off x="548640" y="1234440"/>
            <a:ext cx="1225296" cy="914400"/>
          </a:xfrm>
          <a:prstGeom prst="rect">
            <a:avLst/>
          </a:prstGeom>
          <a:solidFill>
            <a:srgbClr val="1A2B4A"/>
          </a:solidFill>
          <a:ln w="9525">
            <a:solidFill>
              <a:srgbClr val="1A2B4A"/>
            </a:solidFill>
            <a:prstDash val="solid"/>
          </a:ln>
        </p:spPr>
      </p:sp>
      <p:sp>
        <p:nvSpPr>
          <p:cNvPr id="8" name="Text 6"/>
          <p:cNvSpPr txBox="1"/>
          <p:nvPr/>
        </p:nvSpPr>
        <p:spPr>
          <a:xfrm>
            <a:off x="548640" y="1280160"/>
            <a:ext cx="1225296" cy="438912"/>
          </a:xfrm>
          <a:prstGeom prst="rect">
            <a:avLst/>
          </a:prstGeom>
          <a:noFill/>
          <a:ln/>
        </p:spPr>
        <p:txBody>
          <a:bodyPr wrap="square" lIns="0" tIns="0" rIns="0" bIns="0" rtlCol="0" anchor="ctr"/>
          <a:lstStyle/>
          <a:p>
            <a:pPr algn="ctr" indent="0" marL="0">
              <a:buNone/>
            </a:pPr>
            <a:r>
              <a:rPr lang="en-US" sz="2200" b="1" dirty="0">
                <a:solidFill>
                  <a:srgbClr val="E8A838"/>
                </a:solidFill>
                <a:latin typeface="Arial" pitchFamily="34" charset="0"/>
                <a:ea typeface="Arial" pitchFamily="34" charset="-122"/>
                <a:cs typeface="Arial" pitchFamily="34" charset="-120"/>
              </a:rPr>
              <a:t>1</a:t>
            </a:r>
            <a:endParaRPr lang="en-US" sz="2200" dirty="0"/>
          </a:p>
        </p:txBody>
      </p:sp>
      <p:sp>
        <p:nvSpPr>
          <p:cNvPr id="9" name="Text 7"/>
          <p:cNvSpPr txBox="1"/>
          <p:nvPr/>
        </p:nvSpPr>
        <p:spPr>
          <a:xfrm>
            <a:off x="548640" y="1719072"/>
            <a:ext cx="122529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SC</a:t>
            </a:r>
            <a:endParaRPr lang="en-US" sz="1100" dirty="0"/>
          </a:p>
        </p:txBody>
      </p:sp>
      <p:sp>
        <p:nvSpPr>
          <p:cNvPr id="10" name="Text 8"/>
          <p:cNvSpPr txBox="1"/>
          <p:nvPr/>
        </p:nvSpPr>
        <p:spPr>
          <a:xfrm>
            <a:off x="548640" y="2267712"/>
            <a:ext cx="1225296" cy="182880"/>
          </a:xfrm>
          <a:prstGeom prst="rect">
            <a:avLst/>
          </a:prstGeom>
          <a:noFill/>
          <a:ln/>
        </p:spPr>
        <p:txBody>
          <a:bodyPr wrap="square" lIns="0" tIns="0" rIns="0" bIns="0" rtlCol="0" anchor="ctr"/>
          <a:lstStyle/>
          <a:p>
            <a:pPr algn="ctr" indent="0" marL="0">
              <a:buNone/>
            </a:pPr>
            <a:r>
              <a:rPr lang="en-US" sz="750" b="1" spc="100" kern="0" dirty="0">
                <a:solidFill>
                  <a:srgbClr val="3D7CB0"/>
                </a:solidFill>
                <a:latin typeface="Arial" pitchFamily="34" charset="0"/>
                <a:ea typeface="Arial" pitchFamily="34" charset="-122"/>
                <a:cs typeface="Arial" pitchFamily="34" charset="-120"/>
              </a:rPr>
              <a:t>DOCUMENTO</a:t>
            </a:r>
            <a:endParaRPr lang="en-US" sz="750" dirty="0"/>
          </a:p>
        </p:txBody>
      </p:sp>
      <p:sp>
        <p:nvSpPr>
          <p:cNvPr id="11" name="Text 9"/>
          <p:cNvSpPr txBox="1"/>
          <p:nvPr/>
        </p:nvSpPr>
        <p:spPr>
          <a:xfrm>
            <a:off x="621792" y="2468880"/>
            <a:ext cx="1078992" cy="1005840"/>
          </a:xfrm>
          <a:prstGeom prst="rect">
            <a:avLst/>
          </a:prstGeom>
          <a:noFill/>
          <a:ln/>
        </p:spPr>
        <p:txBody>
          <a:bodyPr wrap="square" lIns="0" tIns="0" rIns="0" bIns="0" rtlCol="0" anchor="t"/>
          <a:lstStyle/>
          <a:p>
            <a:pPr algn="ctr" indent="0" marL="0">
              <a:buNone/>
            </a:pPr>
            <a:r>
              <a:rPr lang="en-US" sz="1200" dirty="0">
                <a:solidFill>
                  <a:srgbClr val="334155"/>
                </a:solidFill>
                <a:latin typeface="Arial" pitchFamily="34" charset="0"/>
                <a:ea typeface="Arial" pitchFamily="34" charset="-122"/>
                <a:cs typeface="Arial" pitchFamily="34" charset="-120"/>
              </a:rPr>
              <a:t>Solicitud de Compra firmada</a:t>
            </a:r>
            <a:endParaRPr lang="en-US" sz="1200" dirty="0"/>
          </a:p>
        </p:txBody>
      </p:sp>
      <p:sp>
        <p:nvSpPr>
          <p:cNvPr id="12" name="Text 10"/>
          <p:cNvSpPr txBox="1"/>
          <p:nvPr/>
        </p:nvSpPr>
        <p:spPr>
          <a:xfrm>
            <a:off x="1773936" y="1481328"/>
            <a:ext cx="128016" cy="411480"/>
          </a:xfrm>
          <a:prstGeom prst="rect">
            <a:avLst/>
          </a:prstGeom>
          <a:noFill/>
          <a:ln/>
        </p:spPr>
        <p:txBody>
          <a:bodyPr wrap="square" lIns="0" tIns="0" rIns="0" bIns="0" rtlCol="0" anchor="ctr"/>
          <a:lstStyle/>
          <a:p>
            <a:pPr algn="ctr" indent="0" marL="0">
              <a:buNone/>
            </a:pPr>
            <a:r>
              <a:rPr lang="en-US" sz="1400" b="1" dirty="0">
                <a:solidFill>
                  <a:srgbClr val="7FAED9"/>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1912925" y="1234440"/>
            <a:ext cx="1225296" cy="2331720"/>
          </a:xfrm>
          <a:prstGeom prst="rect">
            <a:avLst/>
          </a:prstGeom>
          <a:solidFill>
            <a:srgbClr val="F7F9FC"/>
          </a:solidFill>
          <a:ln w="9525">
            <a:solidFill>
              <a:srgbClr val="DDE4EE"/>
            </a:solidFill>
            <a:prstDash val="solid"/>
          </a:ln>
        </p:spPr>
      </p:sp>
      <p:sp>
        <p:nvSpPr>
          <p:cNvPr id="14" name="Shape 12"/>
          <p:cNvSpPr/>
          <p:nvPr/>
        </p:nvSpPr>
        <p:spPr>
          <a:xfrm>
            <a:off x="1912925" y="1234440"/>
            <a:ext cx="1225296" cy="914400"/>
          </a:xfrm>
          <a:prstGeom prst="rect">
            <a:avLst/>
          </a:prstGeom>
          <a:solidFill>
            <a:srgbClr val="9DC8E8"/>
          </a:solidFill>
          <a:ln w="9525">
            <a:solidFill>
              <a:srgbClr val="9DC8E8"/>
            </a:solidFill>
            <a:prstDash val="solid"/>
          </a:ln>
        </p:spPr>
      </p:sp>
      <p:sp>
        <p:nvSpPr>
          <p:cNvPr id="15" name="Text 13"/>
          <p:cNvSpPr txBox="1"/>
          <p:nvPr/>
        </p:nvSpPr>
        <p:spPr>
          <a:xfrm>
            <a:off x="1912925" y="1280160"/>
            <a:ext cx="1225296" cy="438912"/>
          </a:xfrm>
          <a:prstGeom prst="rect">
            <a:avLst/>
          </a:prstGeom>
          <a:noFill/>
          <a:ln/>
        </p:spPr>
        <p:txBody>
          <a:bodyPr wrap="square" lIns="0" tIns="0" rIns="0" bIns="0" rtlCol="0" anchor="ctr"/>
          <a:lstStyle/>
          <a:p>
            <a:pPr algn="ctr" indent="0" marL="0">
              <a:buNone/>
            </a:pPr>
            <a:r>
              <a:rPr lang="en-US" sz="2200" b="1" dirty="0">
                <a:solidFill>
                  <a:srgbClr val="1A2B4A"/>
                </a:solidFill>
                <a:latin typeface="Arial" pitchFamily="34" charset="0"/>
                <a:ea typeface="Arial" pitchFamily="34" charset="-122"/>
                <a:cs typeface="Arial" pitchFamily="34" charset="-120"/>
              </a:rPr>
              <a:t>2</a:t>
            </a:r>
            <a:endParaRPr lang="en-US" sz="2200" dirty="0"/>
          </a:p>
        </p:txBody>
      </p:sp>
      <p:sp>
        <p:nvSpPr>
          <p:cNvPr id="16" name="Text 14"/>
          <p:cNvSpPr txBox="1"/>
          <p:nvPr/>
        </p:nvSpPr>
        <p:spPr>
          <a:xfrm>
            <a:off x="1912925" y="1719072"/>
            <a:ext cx="1225296" cy="365760"/>
          </a:xfrm>
          <a:prstGeom prst="rect">
            <a:avLst/>
          </a:prstGeom>
          <a:noFill/>
          <a:ln/>
        </p:spPr>
        <p:txBody>
          <a:bodyPr wrap="square" lIns="0" tIns="0" rIns="0" bIns="0" rtlCol="0" anchor="ctr"/>
          <a:lstStyle/>
          <a:p>
            <a:pPr algn="ctr" indent="0" marL="0">
              <a:buNone/>
            </a:pPr>
            <a:r>
              <a:rPr lang="en-US" sz="1100" b="1" dirty="0">
                <a:solidFill>
                  <a:srgbClr val="1A2B4A"/>
                </a:solidFill>
                <a:latin typeface="Arial" pitchFamily="34" charset="0"/>
                <a:ea typeface="Arial" pitchFamily="34" charset="-122"/>
                <a:cs typeface="Arial" pitchFamily="34" charset="-120"/>
              </a:rPr>
              <a:t>Cotización</a:t>
            </a:r>
            <a:endParaRPr lang="en-US" sz="1100" dirty="0"/>
          </a:p>
        </p:txBody>
      </p:sp>
      <p:sp>
        <p:nvSpPr>
          <p:cNvPr id="17" name="Text 15"/>
          <p:cNvSpPr txBox="1"/>
          <p:nvPr/>
        </p:nvSpPr>
        <p:spPr>
          <a:xfrm>
            <a:off x="1912925" y="2267712"/>
            <a:ext cx="1225296" cy="182880"/>
          </a:xfrm>
          <a:prstGeom prst="rect">
            <a:avLst/>
          </a:prstGeom>
          <a:noFill/>
          <a:ln/>
        </p:spPr>
        <p:txBody>
          <a:bodyPr wrap="square" lIns="0" tIns="0" rIns="0" bIns="0" rtlCol="0" anchor="ctr"/>
          <a:lstStyle/>
          <a:p>
            <a:pPr algn="ctr" indent="0" marL="0">
              <a:buNone/>
            </a:pPr>
            <a:r>
              <a:rPr lang="en-US" sz="750" b="1" spc="100" kern="0" dirty="0">
                <a:solidFill>
                  <a:srgbClr val="3D7CB0"/>
                </a:solidFill>
                <a:latin typeface="Arial" pitchFamily="34" charset="0"/>
                <a:ea typeface="Arial" pitchFamily="34" charset="-122"/>
                <a:cs typeface="Arial" pitchFamily="34" charset="-120"/>
              </a:rPr>
              <a:t>DOCUMENTO</a:t>
            </a:r>
            <a:endParaRPr lang="en-US" sz="750" dirty="0"/>
          </a:p>
        </p:txBody>
      </p:sp>
      <p:sp>
        <p:nvSpPr>
          <p:cNvPr id="18" name="Text 16"/>
          <p:cNvSpPr txBox="1"/>
          <p:nvPr/>
        </p:nvSpPr>
        <p:spPr>
          <a:xfrm>
            <a:off x="1986077" y="2468880"/>
            <a:ext cx="1078992" cy="1005840"/>
          </a:xfrm>
          <a:prstGeom prst="rect">
            <a:avLst/>
          </a:prstGeom>
          <a:noFill/>
          <a:ln/>
        </p:spPr>
        <p:txBody>
          <a:bodyPr wrap="square" lIns="0" tIns="0" rIns="0" bIns="0" rtlCol="0" anchor="t"/>
          <a:lstStyle/>
          <a:p>
            <a:pPr algn="ctr" indent="0" marL="0">
              <a:buNone/>
            </a:pPr>
            <a:r>
              <a:rPr lang="en-US" sz="1200" dirty="0">
                <a:solidFill>
                  <a:srgbClr val="334155"/>
                </a:solidFill>
                <a:latin typeface="Arial" pitchFamily="34" charset="0"/>
                <a:ea typeface="Arial" pitchFamily="34" charset="-122"/>
                <a:cs typeface="Arial" pitchFamily="34" charset="-120"/>
              </a:rPr>
              <a:t>Pedido de Cotización (PC) a 3+ proveedores</a:t>
            </a:r>
            <a:endParaRPr lang="en-US" sz="1200" dirty="0"/>
          </a:p>
        </p:txBody>
      </p:sp>
      <p:sp>
        <p:nvSpPr>
          <p:cNvPr id="19" name="Text 17"/>
          <p:cNvSpPr txBox="1"/>
          <p:nvPr/>
        </p:nvSpPr>
        <p:spPr>
          <a:xfrm>
            <a:off x="3138221" y="1481328"/>
            <a:ext cx="128016" cy="411480"/>
          </a:xfrm>
          <a:prstGeom prst="rect">
            <a:avLst/>
          </a:prstGeom>
          <a:noFill/>
          <a:ln/>
        </p:spPr>
        <p:txBody>
          <a:bodyPr wrap="square" lIns="0" tIns="0" rIns="0" bIns="0" rtlCol="0" anchor="ctr"/>
          <a:lstStyle/>
          <a:p>
            <a:pPr algn="ctr" indent="0" marL="0">
              <a:buNone/>
            </a:pPr>
            <a:r>
              <a:rPr lang="en-US" sz="1400" b="1" dirty="0">
                <a:solidFill>
                  <a:srgbClr val="7FAED9"/>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3277210" y="1234440"/>
            <a:ext cx="1225296" cy="2331720"/>
          </a:xfrm>
          <a:prstGeom prst="rect">
            <a:avLst/>
          </a:prstGeom>
          <a:solidFill>
            <a:srgbClr val="F7F9FC"/>
          </a:solidFill>
          <a:ln w="9525">
            <a:solidFill>
              <a:srgbClr val="DDE4EE"/>
            </a:solidFill>
            <a:prstDash val="solid"/>
          </a:ln>
        </p:spPr>
      </p:sp>
      <p:sp>
        <p:nvSpPr>
          <p:cNvPr id="21" name="Shape 19"/>
          <p:cNvSpPr/>
          <p:nvPr/>
        </p:nvSpPr>
        <p:spPr>
          <a:xfrm>
            <a:off x="3277210" y="1234440"/>
            <a:ext cx="1225296" cy="914400"/>
          </a:xfrm>
          <a:prstGeom prst="rect">
            <a:avLst/>
          </a:prstGeom>
          <a:solidFill>
            <a:srgbClr val="1A2B4A"/>
          </a:solidFill>
          <a:ln w="9525">
            <a:solidFill>
              <a:srgbClr val="1A2B4A"/>
            </a:solidFill>
            <a:prstDash val="solid"/>
          </a:ln>
        </p:spPr>
      </p:sp>
      <p:sp>
        <p:nvSpPr>
          <p:cNvPr id="22" name="Text 20"/>
          <p:cNvSpPr txBox="1"/>
          <p:nvPr/>
        </p:nvSpPr>
        <p:spPr>
          <a:xfrm>
            <a:off x="3277210" y="1280160"/>
            <a:ext cx="1225296" cy="438912"/>
          </a:xfrm>
          <a:prstGeom prst="rect">
            <a:avLst/>
          </a:prstGeom>
          <a:noFill/>
          <a:ln/>
        </p:spPr>
        <p:txBody>
          <a:bodyPr wrap="square" lIns="0" tIns="0" rIns="0" bIns="0" rtlCol="0" anchor="ctr"/>
          <a:lstStyle/>
          <a:p>
            <a:pPr algn="ctr" indent="0" marL="0">
              <a:buNone/>
            </a:pPr>
            <a:r>
              <a:rPr lang="en-US" sz="2200" b="1" dirty="0">
                <a:solidFill>
                  <a:srgbClr val="E8A838"/>
                </a:solidFill>
                <a:latin typeface="Arial" pitchFamily="34" charset="0"/>
                <a:ea typeface="Arial" pitchFamily="34" charset="-122"/>
                <a:cs typeface="Arial" pitchFamily="34" charset="-120"/>
              </a:rPr>
              <a:t>3</a:t>
            </a:r>
            <a:endParaRPr lang="en-US" sz="2200" dirty="0"/>
          </a:p>
        </p:txBody>
      </p:sp>
      <p:sp>
        <p:nvSpPr>
          <p:cNvPr id="23" name="Text 21"/>
          <p:cNvSpPr txBox="1"/>
          <p:nvPr/>
        </p:nvSpPr>
        <p:spPr>
          <a:xfrm>
            <a:off x="3277210" y="1719072"/>
            <a:ext cx="122529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Evaluación</a:t>
            </a:r>
            <a:endParaRPr lang="en-US" sz="1100" dirty="0"/>
          </a:p>
        </p:txBody>
      </p:sp>
      <p:sp>
        <p:nvSpPr>
          <p:cNvPr id="24" name="Text 22"/>
          <p:cNvSpPr txBox="1"/>
          <p:nvPr/>
        </p:nvSpPr>
        <p:spPr>
          <a:xfrm>
            <a:off x="3277210" y="2267712"/>
            <a:ext cx="1225296" cy="182880"/>
          </a:xfrm>
          <a:prstGeom prst="rect">
            <a:avLst/>
          </a:prstGeom>
          <a:noFill/>
          <a:ln/>
        </p:spPr>
        <p:txBody>
          <a:bodyPr wrap="square" lIns="0" tIns="0" rIns="0" bIns="0" rtlCol="0" anchor="ctr"/>
          <a:lstStyle/>
          <a:p>
            <a:pPr algn="ctr" indent="0" marL="0">
              <a:buNone/>
            </a:pPr>
            <a:r>
              <a:rPr lang="en-US" sz="750" b="1" spc="100" kern="0" dirty="0">
                <a:solidFill>
                  <a:srgbClr val="3D7CB0"/>
                </a:solidFill>
                <a:latin typeface="Arial" pitchFamily="34" charset="0"/>
                <a:ea typeface="Arial" pitchFamily="34" charset="-122"/>
                <a:cs typeface="Arial" pitchFamily="34" charset="-120"/>
              </a:rPr>
              <a:t>DOCUMENTO</a:t>
            </a:r>
            <a:endParaRPr lang="en-US" sz="750" dirty="0"/>
          </a:p>
        </p:txBody>
      </p:sp>
      <p:sp>
        <p:nvSpPr>
          <p:cNvPr id="25" name="Text 23"/>
          <p:cNvSpPr txBox="1"/>
          <p:nvPr/>
        </p:nvSpPr>
        <p:spPr>
          <a:xfrm>
            <a:off x="3350362" y="2468880"/>
            <a:ext cx="1078992" cy="1005840"/>
          </a:xfrm>
          <a:prstGeom prst="rect">
            <a:avLst/>
          </a:prstGeom>
          <a:noFill/>
          <a:ln/>
        </p:spPr>
        <p:txBody>
          <a:bodyPr wrap="square" lIns="0" tIns="0" rIns="0" bIns="0" rtlCol="0" anchor="t"/>
          <a:lstStyle/>
          <a:p>
            <a:pPr algn="ctr" indent="0" marL="0">
              <a:buNone/>
            </a:pPr>
            <a:r>
              <a:rPr lang="en-US" sz="1200" dirty="0">
                <a:solidFill>
                  <a:srgbClr val="334155"/>
                </a:solidFill>
                <a:latin typeface="Arial" pitchFamily="34" charset="0"/>
                <a:ea typeface="Arial" pitchFamily="34" charset="-122"/>
                <a:cs typeface="Arial" pitchFamily="34" charset="-120"/>
              </a:rPr>
              <a:t>Planilla de análisis de cotizaciones</a:t>
            </a:r>
            <a:endParaRPr lang="en-US" sz="1200" dirty="0"/>
          </a:p>
        </p:txBody>
      </p:sp>
      <p:sp>
        <p:nvSpPr>
          <p:cNvPr id="26" name="Text 24"/>
          <p:cNvSpPr txBox="1"/>
          <p:nvPr/>
        </p:nvSpPr>
        <p:spPr>
          <a:xfrm>
            <a:off x="4502506" y="1481328"/>
            <a:ext cx="128016" cy="411480"/>
          </a:xfrm>
          <a:prstGeom prst="rect">
            <a:avLst/>
          </a:prstGeom>
          <a:noFill/>
          <a:ln/>
        </p:spPr>
        <p:txBody>
          <a:bodyPr wrap="square" lIns="0" tIns="0" rIns="0" bIns="0" rtlCol="0" anchor="ctr"/>
          <a:lstStyle/>
          <a:p>
            <a:pPr algn="ctr" indent="0" marL="0">
              <a:buNone/>
            </a:pPr>
            <a:r>
              <a:rPr lang="en-US" sz="1400" b="1" dirty="0">
                <a:solidFill>
                  <a:srgbClr val="7FAED9"/>
                </a:solidFill>
                <a:latin typeface="Arial" pitchFamily="34" charset="0"/>
                <a:ea typeface="Arial" pitchFamily="34" charset="-122"/>
                <a:cs typeface="Arial" pitchFamily="34" charset="-120"/>
              </a:rPr>
              <a:t>›</a:t>
            </a:r>
            <a:endParaRPr lang="en-US" sz="1400" dirty="0"/>
          </a:p>
        </p:txBody>
      </p:sp>
      <p:sp>
        <p:nvSpPr>
          <p:cNvPr id="27" name="Shape 25"/>
          <p:cNvSpPr/>
          <p:nvPr/>
        </p:nvSpPr>
        <p:spPr>
          <a:xfrm>
            <a:off x="4641494" y="1234440"/>
            <a:ext cx="1225296" cy="2331720"/>
          </a:xfrm>
          <a:prstGeom prst="rect">
            <a:avLst/>
          </a:prstGeom>
          <a:solidFill>
            <a:srgbClr val="F7F9FC"/>
          </a:solidFill>
          <a:ln w="9525">
            <a:solidFill>
              <a:srgbClr val="DDE4EE"/>
            </a:solidFill>
            <a:prstDash val="solid"/>
          </a:ln>
        </p:spPr>
      </p:sp>
      <p:sp>
        <p:nvSpPr>
          <p:cNvPr id="28" name="Shape 26"/>
          <p:cNvSpPr/>
          <p:nvPr/>
        </p:nvSpPr>
        <p:spPr>
          <a:xfrm>
            <a:off x="4641494" y="1234440"/>
            <a:ext cx="1225296" cy="914400"/>
          </a:xfrm>
          <a:prstGeom prst="rect">
            <a:avLst/>
          </a:prstGeom>
          <a:solidFill>
            <a:srgbClr val="9DC8E8"/>
          </a:solidFill>
          <a:ln w="9525">
            <a:solidFill>
              <a:srgbClr val="9DC8E8"/>
            </a:solidFill>
            <a:prstDash val="solid"/>
          </a:ln>
        </p:spPr>
      </p:sp>
      <p:sp>
        <p:nvSpPr>
          <p:cNvPr id="29" name="Text 27"/>
          <p:cNvSpPr txBox="1"/>
          <p:nvPr/>
        </p:nvSpPr>
        <p:spPr>
          <a:xfrm>
            <a:off x="4641494" y="1280160"/>
            <a:ext cx="1225296" cy="438912"/>
          </a:xfrm>
          <a:prstGeom prst="rect">
            <a:avLst/>
          </a:prstGeom>
          <a:noFill/>
          <a:ln/>
        </p:spPr>
        <p:txBody>
          <a:bodyPr wrap="square" lIns="0" tIns="0" rIns="0" bIns="0" rtlCol="0" anchor="ctr"/>
          <a:lstStyle/>
          <a:p>
            <a:pPr algn="ctr" indent="0" marL="0">
              <a:buNone/>
            </a:pPr>
            <a:r>
              <a:rPr lang="en-US" sz="2200" b="1" dirty="0">
                <a:solidFill>
                  <a:srgbClr val="1A2B4A"/>
                </a:solidFill>
                <a:latin typeface="Arial" pitchFamily="34" charset="0"/>
                <a:ea typeface="Arial" pitchFamily="34" charset="-122"/>
                <a:cs typeface="Arial" pitchFamily="34" charset="-120"/>
              </a:rPr>
              <a:t>4</a:t>
            </a:r>
            <a:endParaRPr lang="en-US" sz="2200" dirty="0"/>
          </a:p>
        </p:txBody>
      </p:sp>
      <p:sp>
        <p:nvSpPr>
          <p:cNvPr id="30" name="Text 28"/>
          <p:cNvSpPr txBox="1"/>
          <p:nvPr/>
        </p:nvSpPr>
        <p:spPr>
          <a:xfrm>
            <a:off x="4641494" y="1719072"/>
            <a:ext cx="1225296" cy="365760"/>
          </a:xfrm>
          <a:prstGeom prst="rect">
            <a:avLst/>
          </a:prstGeom>
          <a:noFill/>
          <a:ln/>
        </p:spPr>
        <p:txBody>
          <a:bodyPr wrap="square" lIns="0" tIns="0" rIns="0" bIns="0" rtlCol="0" anchor="ctr"/>
          <a:lstStyle/>
          <a:p>
            <a:pPr algn="ctr" indent="0" marL="0">
              <a:buNone/>
            </a:pPr>
            <a:r>
              <a:rPr lang="en-US" sz="1100" b="1" dirty="0">
                <a:solidFill>
                  <a:srgbClr val="1A2B4A"/>
                </a:solidFill>
                <a:latin typeface="Arial" pitchFamily="34" charset="0"/>
                <a:ea typeface="Arial" pitchFamily="34" charset="-122"/>
                <a:cs typeface="Arial" pitchFamily="34" charset="-120"/>
              </a:rPr>
              <a:t>Adjudicación</a:t>
            </a:r>
            <a:endParaRPr lang="en-US" sz="1100" dirty="0"/>
          </a:p>
        </p:txBody>
      </p:sp>
      <p:sp>
        <p:nvSpPr>
          <p:cNvPr id="31" name="Text 29"/>
          <p:cNvSpPr txBox="1"/>
          <p:nvPr/>
        </p:nvSpPr>
        <p:spPr>
          <a:xfrm>
            <a:off x="4641494" y="2267712"/>
            <a:ext cx="1225296" cy="182880"/>
          </a:xfrm>
          <a:prstGeom prst="rect">
            <a:avLst/>
          </a:prstGeom>
          <a:noFill/>
          <a:ln/>
        </p:spPr>
        <p:txBody>
          <a:bodyPr wrap="square" lIns="0" tIns="0" rIns="0" bIns="0" rtlCol="0" anchor="ctr"/>
          <a:lstStyle/>
          <a:p>
            <a:pPr algn="ctr" indent="0" marL="0">
              <a:buNone/>
            </a:pPr>
            <a:r>
              <a:rPr lang="en-US" sz="750" b="1" spc="100" kern="0" dirty="0">
                <a:solidFill>
                  <a:srgbClr val="3D7CB0"/>
                </a:solidFill>
                <a:latin typeface="Arial" pitchFamily="34" charset="0"/>
                <a:ea typeface="Arial" pitchFamily="34" charset="-122"/>
                <a:cs typeface="Arial" pitchFamily="34" charset="-120"/>
              </a:rPr>
              <a:t>DOCUMENTO</a:t>
            </a:r>
            <a:endParaRPr lang="en-US" sz="750" dirty="0"/>
          </a:p>
        </p:txBody>
      </p:sp>
      <p:sp>
        <p:nvSpPr>
          <p:cNvPr id="32" name="Text 30"/>
          <p:cNvSpPr txBox="1"/>
          <p:nvPr/>
        </p:nvSpPr>
        <p:spPr>
          <a:xfrm>
            <a:off x="4714646" y="2468880"/>
            <a:ext cx="1078992" cy="1005840"/>
          </a:xfrm>
          <a:prstGeom prst="rect">
            <a:avLst/>
          </a:prstGeom>
          <a:noFill/>
          <a:ln/>
        </p:spPr>
        <p:txBody>
          <a:bodyPr wrap="square" lIns="0" tIns="0" rIns="0" bIns="0" rtlCol="0" anchor="t"/>
          <a:lstStyle/>
          <a:p>
            <a:pPr algn="ctr" indent="0" marL="0">
              <a:buNone/>
            </a:pPr>
            <a:r>
              <a:rPr lang="en-US" sz="1200" dirty="0">
                <a:solidFill>
                  <a:srgbClr val="334155"/>
                </a:solidFill>
                <a:latin typeface="Arial" pitchFamily="34" charset="0"/>
                <a:ea typeface="Arial" pitchFamily="34" charset="-122"/>
                <a:cs typeface="Arial" pitchFamily="34" charset="-120"/>
              </a:rPr>
              <a:t>Orden de Compra (OC) firmada</a:t>
            </a:r>
            <a:endParaRPr lang="en-US" sz="1200" dirty="0"/>
          </a:p>
        </p:txBody>
      </p:sp>
      <p:sp>
        <p:nvSpPr>
          <p:cNvPr id="33" name="Text 31"/>
          <p:cNvSpPr txBox="1"/>
          <p:nvPr/>
        </p:nvSpPr>
        <p:spPr>
          <a:xfrm>
            <a:off x="5866790" y="1481328"/>
            <a:ext cx="128016" cy="411480"/>
          </a:xfrm>
          <a:prstGeom prst="rect">
            <a:avLst/>
          </a:prstGeom>
          <a:noFill/>
          <a:ln/>
        </p:spPr>
        <p:txBody>
          <a:bodyPr wrap="square" lIns="0" tIns="0" rIns="0" bIns="0" rtlCol="0" anchor="ctr"/>
          <a:lstStyle/>
          <a:p>
            <a:pPr algn="ctr" indent="0" marL="0">
              <a:buNone/>
            </a:pPr>
            <a:r>
              <a:rPr lang="en-US" sz="1400" b="1" dirty="0">
                <a:solidFill>
                  <a:srgbClr val="7FAED9"/>
                </a:solidFill>
                <a:latin typeface="Arial" pitchFamily="34" charset="0"/>
                <a:ea typeface="Arial" pitchFamily="34" charset="-122"/>
                <a:cs typeface="Arial" pitchFamily="34" charset="-120"/>
              </a:rPr>
              <a:t>›</a:t>
            </a:r>
            <a:endParaRPr lang="en-US" sz="1400" dirty="0"/>
          </a:p>
        </p:txBody>
      </p:sp>
      <p:sp>
        <p:nvSpPr>
          <p:cNvPr id="34" name="Shape 32"/>
          <p:cNvSpPr/>
          <p:nvPr/>
        </p:nvSpPr>
        <p:spPr>
          <a:xfrm>
            <a:off x="6005779" y="1234440"/>
            <a:ext cx="1225296" cy="2331720"/>
          </a:xfrm>
          <a:prstGeom prst="rect">
            <a:avLst/>
          </a:prstGeom>
          <a:solidFill>
            <a:srgbClr val="F7F9FC"/>
          </a:solidFill>
          <a:ln w="9525">
            <a:solidFill>
              <a:srgbClr val="DDE4EE"/>
            </a:solidFill>
            <a:prstDash val="solid"/>
          </a:ln>
        </p:spPr>
      </p:sp>
      <p:sp>
        <p:nvSpPr>
          <p:cNvPr id="35" name="Shape 33"/>
          <p:cNvSpPr/>
          <p:nvPr/>
        </p:nvSpPr>
        <p:spPr>
          <a:xfrm>
            <a:off x="6005779" y="1234440"/>
            <a:ext cx="1225296" cy="914400"/>
          </a:xfrm>
          <a:prstGeom prst="rect">
            <a:avLst/>
          </a:prstGeom>
          <a:solidFill>
            <a:srgbClr val="1A2B4A"/>
          </a:solidFill>
          <a:ln w="9525">
            <a:solidFill>
              <a:srgbClr val="1A2B4A"/>
            </a:solidFill>
            <a:prstDash val="solid"/>
          </a:ln>
        </p:spPr>
      </p:sp>
      <p:sp>
        <p:nvSpPr>
          <p:cNvPr id="36" name="Text 34"/>
          <p:cNvSpPr txBox="1"/>
          <p:nvPr/>
        </p:nvSpPr>
        <p:spPr>
          <a:xfrm>
            <a:off x="6005779" y="1280160"/>
            <a:ext cx="1225296" cy="438912"/>
          </a:xfrm>
          <a:prstGeom prst="rect">
            <a:avLst/>
          </a:prstGeom>
          <a:noFill/>
          <a:ln/>
        </p:spPr>
        <p:txBody>
          <a:bodyPr wrap="square" lIns="0" tIns="0" rIns="0" bIns="0" rtlCol="0" anchor="ctr"/>
          <a:lstStyle/>
          <a:p>
            <a:pPr algn="ctr" indent="0" marL="0">
              <a:buNone/>
            </a:pPr>
            <a:r>
              <a:rPr lang="en-US" sz="2200" b="1" dirty="0">
                <a:solidFill>
                  <a:srgbClr val="E8A838"/>
                </a:solidFill>
                <a:latin typeface="Arial" pitchFamily="34" charset="0"/>
                <a:ea typeface="Arial" pitchFamily="34" charset="-122"/>
                <a:cs typeface="Arial" pitchFamily="34" charset="-120"/>
              </a:rPr>
              <a:t>5</a:t>
            </a:r>
            <a:endParaRPr lang="en-US" sz="2200" dirty="0"/>
          </a:p>
        </p:txBody>
      </p:sp>
      <p:sp>
        <p:nvSpPr>
          <p:cNvPr id="37" name="Text 35"/>
          <p:cNvSpPr txBox="1"/>
          <p:nvPr/>
        </p:nvSpPr>
        <p:spPr>
          <a:xfrm>
            <a:off x="6005779" y="1719072"/>
            <a:ext cx="122529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Recepción</a:t>
            </a:r>
            <a:endParaRPr lang="en-US" sz="1100" dirty="0"/>
          </a:p>
        </p:txBody>
      </p:sp>
      <p:sp>
        <p:nvSpPr>
          <p:cNvPr id="38" name="Text 36"/>
          <p:cNvSpPr txBox="1"/>
          <p:nvPr/>
        </p:nvSpPr>
        <p:spPr>
          <a:xfrm>
            <a:off x="6005779" y="2267712"/>
            <a:ext cx="1225296" cy="182880"/>
          </a:xfrm>
          <a:prstGeom prst="rect">
            <a:avLst/>
          </a:prstGeom>
          <a:noFill/>
          <a:ln/>
        </p:spPr>
        <p:txBody>
          <a:bodyPr wrap="square" lIns="0" tIns="0" rIns="0" bIns="0" rtlCol="0" anchor="ctr"/>
          <a:lstStyle/>
          <a:p>
            <a:pPr algn="ctr" indent="0" marL="0">
              <a:buNone/>
            </a:pPr>
            <a:r>
              <a:rPr lang="en-US" sz="750" b="1" spc="100" kern="0" dirty="0">
                <a:solidFill>
                  <a:srgbClr val="3D7CB0"/>
                </a:solidFill>
                <a:latin typeface="Arial" pitchFamily="34" charset="0"/>
                <a:ea typeface="Arial" pitchFamily="34" charset="-122"/>
                <a:cs typeface="Arial" pitchFamily="34" charset="-120"/>
              </a:rPr>
              <a:t>DOCUMENTO</a:t>
            </a:r>
            <a:endParaRPr lang="en-US" sz="750" dirty="0"/>
          </a:p>
        </p:txBody>
      </p:sp>
      <p:sp>
        <p:nvSpPr>
          <p:cNvPr id="39" name="Text 37"/>
          <p:cNvSpPr txBox="1"/>
          <p:nvPr/>
        </p:nvSpPr>
        <p:spPr>
          <a:xfrm>
            <a:off x="6078931" y="2468880"/>
            <a:ext cx="1078992" cy="1005840"/>
          </a:xfrm>
          <a:prstGeom prst="rect">
            <a:avLst/>
          </a:prstGeom>
          <a:noFill/>
          <a:ln/>
        </p:spPr>
        <p:txBody>
          <a:bodyPr wrap="square" lIns="0" tIns="0" rIns="0" bIns="0" rtlCol="0" anchor="t"/>
          <a:lstStyle/>
          <a:p>
            <a:pPr algn="ctr" indent="0" marL="0">
              <a:buNone/>
            </a:pPr>
            <a:r>
              <a:rPr lang="en-US" sz="1200" dirty="0">
                <a:solidFill>
                  <a:srgbClr val="334155"/>
                </a:solidFill>
                <a:latin typeface="Arial" pitchFamily="34" charset="0"/>
                <a:ea typeface="Arial" pitchFamily="34" charset="-122"/>
                <a:cs typeface="Arial" pitchFamily="34" charset="-120"/>
              </a:rPr>
              <a:t>Informe de Recepción (IR) + remito interno</a:t>
            </a:r>
            <a:endParaRPr lang="en-US" sz="1200" dirty="0"/>
          </a:p>
        </p:txBody>
      </p:sp>
      <p:sp>
        <p:nvSpPr>
          <p:cNvPr id="40" name="Text 38"/>
          <p:cNvSpPr txBox="1"/>
          <p:nvPr/>
        </p:nvSpPr>
        <p:spPr>
          <a:xfrm>
            <a:off x="7231075" y="1481328"/>
            <a:ext cx="128016" cy="411480"/>
          </a:xfrm>
          <a:prstGeom prst="rect">
            <a:avLst/>
          </a:prstGeom>
          <a:noFill/>
          <a:ln/>
        </p:spPr>
        <p:txBody>
          <a:bodyPr wrap="square" lIns="0" tIns="0" rIns="0" bIns="0" rtlCol="0" anchor="ctr"/>
          <a:lstStyle/>
          <a:p>
            <a:pPr algn="ctr" indent="0" marL="0">
              <a:buNone/>
            </a:pPr>
            <a:r>
              <a:rPr lang="en-US" sz="1400" b="1" dirty="0">
                <a:solidFill>
                  <a:srgbClr val="7FAED9"/>
                </a:solidFill>
                <a:latin typeface="Arial" pitchFamily="34" charset="0"/>
                <a:ea typeface="Arial" pitchFamily="34" charset="-122"/>
                <a:cs typeface="Arial" pitchFamily="34" charset="-120"/>
              </a:rPr>
              <a:t>›</a:t>
            </a:r>
            <a:endParaRPr lang="en-US" sz="1400" dirty="0"/>
          </a:p>
        </p:txBody>
      </p:sp>
      <p:sp>
        <p:nvSpPr>
          <p:cNvPr id="41" name="Shape 39"/>
          <p:cNvSpPr/>
          <p:nvPr/>
        </p:nvSpPr>
        <p:spPr>
          <a:xfrm>
            <a:off x="7370064" y="1234440"/>
            <a:ext cx="1225296" cy="2331720"/>
          </a:xfrm>
          <a:prstGeom prst="rect">
            <a:avLst/>
          </a:prstGeom>
          <a:solidFill>
            <a:srgbClr val="F7F9FC"/>
          </a:solidFill>
          <a:ln w="9525">
            <a:solidFill>
              <a:srgbClr val="DDE4EE"/>
            </a:solidFill>
            <a:prstDash val="solid"/>
          </a:ln>
        </p:spPr>
      </p:sp>
      <p:sp>
        <p:nvSpPr>
          <p:cNvPr id="42" name="Shape 40"/>
          <p:cNvSpPr/>
          <p:nvPr/>
        </p:nvSpPr>
        <p:spPr>
          <a:xfrm>
            <a:off x="7370064" y="1234440"/>
            <a:ext cx="1225296" cy="914400"/>
          </a:xfrm>
          <a:prstGeom prst="rect">
            <a:avLst/>
          </a:prstGeom>
          <a:solidFill>
            <a:srgbClr val="9DC8E8"/>
          </a:solidFill>
          <a:ln w="9525">
            <a:solidFill>
              <a:srgbClr val="9DC8E8"/>
            </a:solidFill>
            <a:prstDash val="solid"/>
          </a:ln>
        </p:spPr>
      </p:sp>
      <p:sp>
        <p:nvSpPr>
          <p:cNvPr id="43" name="Text 41"/>
          <p:cNvSpPr txBox="1"/>
          <p:nvPr/>
        </p:nvSpPr>
        <p:spPr>
          <a:xfrm>
            <a:off x="7370064" y="1280160"/>
            <a:ext cx="1225296" cy="438912"/>
          </a:xfrm>
          <a:prstGeom prst="rect">
            <a:avLst/>
          </a:prstGeom>
          <a:noFill/>
          <a:ln/>
        </p:spPr>
        <p:txBody>
          <a:bodyPr wrap="square" lIns="0" tIns="0" rIns="0" bIns="0" rtlCol="0" anchor="ctr"/>
          <a:lstStyle/>
          <a:p>
            <a:pPr algn="ctr" indent="0" marL="0">
              <a:buNone/>
            </a:pPr>
            <a:r>
              <a:rPr lang="en-US" sz="2200" b="1" dirty="0">
                <a:solidFill>
                  <a:srgbClr val="1A2B4A"/>
                </a:solidFill>
                <a:latin typeface="Arial" pitchFamily="34" charset="0"/>
                <a:ea typeface="Arial" pitchFamily="34" charset="-122"/>
                <a:cs typeface="Arial" pitchFamily="34" charset="-120"/>
              </a:rPr>
              <a:t>6</a:t>
            </a:r>
            <a:endParaRPr lang="en-US" sz="2200" dirty="0"/>
          </a:p>
        </p:txBody>
      </p:sp>
      <p:sp>
        <p:nvSpPr>
          <p:cNvPr id="44" name="Text 42"/>
          <p:cNvSpPr txBox="1"/>
          <p:nvPr/>
        </p:nvSpPr>
        <p:spPr>
          <a:xfrm>
            <a:off x="7370064" y="1719072"/>
            <a:ext cx="1225296" cy="365760"/>
          </a:xfrm>
          <a:prstGeom prst="rect">
            <a:avLst/>
          </a:prstGeom>
          <a:noFill/>
          <a:ln/>
        </p:spPr>
        <p:txBody>
          <a:bodyPr wrap="square" lIns="0" tIns="0" rIns="0" bIns="0" rtlCol="0" anchor="ctr"/>
          <a:lstStyle/>
          <a:p>
            <a:pPr algn="ctr" indent="0" marL="0">
              <a:buNone/>
            </a:pPr>
            <a:r>
              <a:rPr lang="en-US" sz="1100" b="1" dirty="0">
                <a:solidFill>
                  <a:srgbClr val="1A2B4A"/>
                </a:solidFill>
                <a:latin typeface="Arial" pitchFamily="34" charset="0"/>
                <a:ea typeface="Arial" pitchFamily="34" charset="-122"/>
                <a:cs typeface="Arial" pitchFamily="34" charset="-120"/>
              </a:rPr>
              <a:t>Contabilización</a:t>
            </a:r>
            <a:endParaRPr lang="en-US" sz="1100" dirty="0"/>
          </a:p>
        </p:txBody>
      </p:sp>
      <p:sp>
        <p:nvSpPr>
          <p:cNvPr id="45" name="Text 43"/>
          <p:cNvSpPr txBox="1"/>
          <p:nvPr/>
        </p:nvSpPr>
        <p:spPr>
          <a:xfrm>
            <a:off x="7370064" y="2267712"/>
            <a:ext cx="1225296" cy="182880"/>
          </a:xfrm>
          <a:prstGeom prst="rect">
            <a:avLst/>
          </a:prstGeom>
          <a:noFill/>
          <a:ln/>
        </p:spPr>
        <p:txBody>
          <a:bodyPr wrap="square" lIns="0" tIns="0" rIns="0" bIns="0" rtlCol="0" anchor="ctr"/>
          <a:lstStyle/>
          <a:p>
            <a:pPr algn="ctr" indent="0" marL="0">
              <a:buNone/>
            </a:pPr>
            <a:r>
              <a:rPr lang="en-US" sz="750" b="1" spc="100" kern="0" dirty="0">
                <a:solidFill>
                  <a:srgbClr val="3D7CB0"/>
                </a:solidFill>
                <a:latin typeface="Arial" pitchFamily="34" charset="0"/>
                <a:ea typeface="Arial" pitchFamily="34" charset="-122"/>
                <a:cs typeface="Arial" pitchFamily="34" charset="-120"/>
              </a:rPr>
              <a:t>DOCUMENTO</a:t>
            </a:r>
            <a:endParaRPr lang="en-US" sz="750" dirty="0"/>
          </a:p>
        </p:txBody>
      </p:sp>
      <p:sp>
        <p:nvSpPr>
          <p:cNvPr id="46" name="Text 44"/>
          <p:cNvSpPr txBox="1"/>
          <p:nvPr/>
        </p:nvSpPr>
        <p:spPr>
          <a:xfrm>
            <a:off x="7443216" y="2468880"/>
            <a:ext cx="1078992" cy="1005840"/>
          </a:xfrm>
          <a:prstGeom prst="rect">
            <a:avLst/>
          </a:prstGeom>
          <a:noFill/>
          <a:ln/>
        </p:spPr>
        <p:txBody>
          <a:bodyPr wrap="square" lIns="0" tIns="0" rIns="0" bIns="0" rtlCol="0" anchor="t"/>
          <a:lstStyle/>
          <a:p>
            <a:pPr algn="ctr" indent="0" marL="0">
              <a:buNone/>
            </a:pPr>
            <a:r>
              <a:rPr lang="en-US" sz="1200" dirty="0">
                <a:solidFill>
                  <a:srgbClr val="334155"/>
                </a:solidFill>
                <a:latin typeface="Arial" pitchFamily="34" charset="0"/>
                <a:ea typeface="Arial" pitchFamily="34" charset="-122"/>
                <a:cs typeface="Arial" pitchFamily="34" charset="-120"/>
              </a:rPr>
              <a:t>Asiento contable</a:t>
            </a:r>
            <a:endParaRPr lang="en-US" sz="1200" dirty="0"/>
          </a:p>
        </p:txBody>
      </p:sp>
      <p:sp>
        <p:nvSpPr>
          <p:cNvPr id="47" name="Shape 45"/>
          <p:cNvSpPr/>
          <p:nvPr/>
        </p:nvSpPr>
        <p:spPr>
          <a:xfrm>
            <a:off x="548640" y="3749040"/>
            <a:ext cx="8046720" cy="914400"/>
          </a:xfrm>
          <a:prstGeom prst="rect">
            <a:avLst/>
          </a:prstGeom>
          <a:solidFill>
            <a:srgbClr val="1A2B4A"/>
          </a:solidFill>
          <a:ln w="9525">
            <a:solidFill>
              <a:srgbClr val="1A2B4A"/>
            </a:solidFill>
            <a:prstDash val="solid"/>
          </a:ln>
        </p:spPr>
      </p:sp>
      <p:sp>
        <p:nvSpPr>
          <p:cNvPr id="48" name="Text 46"/>
          <p:cNvSpPr txBox="1"/>
          <p:nvPr/>
        </p:nvSpPr>
        <p:spPr>
          <a:xfrm>
            <a:off x="731520" y="3822192"/>
            <a:ext cx="3657600" cy="201168"/>
          </a:xfrm>
          <a:prstGeom prst="rect">
            <a:avLst/>
          </a:prstGeom>
          <a:noFill/>
          <a:ln/>
        </p:spPr>
        <p:txBody>
          <a:bodyPr wrap="square" lIns="0" tIns="0" rIns="0" bIns="0" rtlCol="0" anchor="ctr"/>
          <a:lstStyle/>
          <a:p>
            <a:pPr indent="0" marL="0">
              <a:buNone/>
            </a:pPr>
            <a:r>
              <a:rPr lang="en-US" sz="950" b="1" spc="200" kern="0" dirty="0">
                <a:solidFill>
                  <a:srgbClr val="E8A838"/>
                </a:solidFill>
                <a:latin typeface="Arial" pitchFamily="34" charset="0"/>
                <a:ea typeface="Arial" pitchFamily="34" charset="-122"/>
                <a:cs typeface="Arial" pitchFamily="34" charset="-120"/>
              </a:rPr>
              <a:t>CONTROL INTERNO CLAVE</a:t>
            </a:r>
            <a:endParaRPr lang="en-US" sz="950" dirty="0"/>
          </a:p>
        </p:txBody>
      </p:sp>
      <p:sp>
        <p:nvSpPr>
          <p:cNvPr id="49" name="Text 47"/>
          <p:cNvSpPr txBox="1"/>
          <p:nvPr/>
        </p:nvSpPr>
        <p:spPr>
          <a:xfrm>
            <a:off x="731520" y="4041648"/>
            <a:ext cx="7680960" cy="5486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Compras separada de Almacenes, Recepción, Cuentas a Pagar y Contabilidad · Mínimo 3 cotizaciones · OC firmada por autoridad competente · IR emitido por Recepción · Formularios pre-numerados.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DC8E8"/>
          </a:solidFill>
          <a:ln w="9525">
            <a:solidFill>
              <a:srgbClr val="9DC8E8"/>
            </a:solidFill>
            <a:prstDash val="solid"/>
          </a:ln>
        </p:spPr>
      </p:sp>
      <p:sp>
        <p:nvSpPr>
          <p:cNvPr id="3" name="Text 1"/>
          <p:cNvSpPr txBox="1"/>
          <p:nvPr/>
        </p:nvSpPr>
        <p:spPr>
          <a:xfrm>
            <a:off x="548640" y="292608"/>
            <a:ext cx="8046720" cy="256032"/>
          </a:xfrm>
          <a:prstGeom prst="rect">
            <a:avLst/>
          </a:prstGeom>
          <a:noFill/>
          <a:ln/>
        </p:spPr>
        <p:txBody>
          <a:bodyPr wrap="square" lIns="0" tIns="0" rIns="0" bIns="0" rtlCol="0" anchor="ctr"/>
          <a:lstStyle/>
          <a:p>
            <a:pPr indent="0" marL="0">
              <a:buNone/>
            </a:pPr>
            <a:r>
              <a:rPr lang="en-US" sz="1100" b="1" spc="200" kern="0" dirty="0">
                <a:solidFill>
                  <a:srgbClr val="3D7CB0"/>
                </a:solidFill>
                <a:latin typeface="Arial" pitchFamily="34" charset="0"/>
                <a:ea typeface="Arial" pitchFamily="34" charset="-122"/>
                <a:cs typeface="Arial" pitchFamily="34" charset="-120"/>
              </a:rPr>
              <a:t>COMPARACIÓN</a:t>
            </a:r>
            <a:endParaRPr lang="en-US" sz="1100" dirty="0"/>
          </a:p>
        </p:txBody>
      </p:sp>
      <p:sp>
        <p:nvSpPr>
          <p:cNvPr id="4" name="Text 2"/>
          <p:cNvSpPr txBox="1"/>
          <p:nvPr/>
        </p:nvSpPr>
        <p:spPr>
          <a:xfrm>
            <a:off x="548640" y="548640"/>
            <a:ext cx="8046720" cy="548640"/>
          </a:xfrm>
          <a:prstGeom prst="rect">
            <a:avLst/>
          </a:prstGeom>
          <a:noFill/>
          <a:ln/>
        </p:spPr>
        <p:txBody>
          <a:bodyPr wrap="square" lIns="0" tIns="0" rIns="0" bIns="0" rtlCol="0" anchor="t"/>
          <a:lstStyle/>
          <a:p>
            <a:pPr indent="0" marL="0">
              <a:buNone/>
            </a:pPr>
            <a:r>
              <a:rPr lang="en-US" sz="2800" b="1" dirty="0">
                <a:solidFill>
                  <a:srgbClr val="1A2B4A"/>
                </a:solidFill>
                <a:latin typeface="Arial" pitchFamily="34" charset="0"/>
                <a:ea typeface="Arial" pitchFamily="34" charset="-122"/>
                <a:cs typeface="Arial" pitchFamily="34" charset="-120"/>
              </a:rPr>
              <a:t>Producción vs. Compras</a:t>
            </a:r>
            <a:endParaRPr lang="en-US" sz="2800" dirty="0"/>
          </a:p>
        </p:txBody>
      </p:sp>
      <p:sp>
        <p:nvSpPr>
          <p:cNvPr id="5" name="Text 3"/>
          <p:cNvSpPr txBox="1"/>
          <p:nvPr/>
        </p:nvSpPr>
        <p:spPr>
          <a:xfrm>
            <a:off x="8412480" y="4828032"/>
            <a:ext cx="457200" cy="201168"/>
          </a:xfrm>
          <a:prstGeom prst="rect">
            <a:avLst/>
          </a:prstGeom>
          <a:noFill/>
          <a:ln/>
        </p:spPr>
        <p:txBody>
          <a:bodyPr wrap="square" lIns="0" tIns="0" rIns="0" bIns="0" rtlCol="0" anchor="ctr"/>
          <a:lstStyle/>
          <a:p>
            <a:pPr algn="r" indent="0" marL="0">
              <a:buNone/>
            </a:pPr>
            <a:r>
              <a:rPr lang="en-US" sz="900" dirty="0">
                <a:solidFill>
                  <a:srgbClr val="64748B"/>
                </a:solidFill>
                <a:latin typeface="Arial" pitchFamily="34" charset="0"/>
                <a:ea typeface="Arial" pitchFamily="34" charset="-122"/>
                <a:cs typeface="Arial" pitchFamily="34" charset="-120"/>
              </a:rPr>
              <a:t>12</a:t>
            </a:r>
            <a:endParaRPr lang="en-US" sz="900" dirty="0"/>
          </a:p>
        </p:txBody>
      </p:sp>
      <p:sp>
        <p:nvSpPr>
          <p:cNvPr id="6" name="Text 4"/>
          <p:cNvSpPr txBox="1"/>
          <p:nvPr/>
        </p:nvSpPr>
        <p:spPr>
          <a:xfrm>
            <a:off x="548640" y="1051560"/>
            <a:ext cx="8046720" cy="27432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¿En qué se parecen y en qué se diferencian estos dos sistemas?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914400"/>
        </p:xfrm>
        <a:graphic>
          <a:graphicData uri="http://schemas.openxmlformats.org/drawingml/2006/table">
            <a:tbl>
              <a:tblPr/>
              <a:tblGrid>
                <a:gridCol w="2011680"/>
                <a:gridCol w="3017520"/>
                <a:gridCol w="3017520"/>
              </a:tblGrid>
              <a:tr h="438912">
                <a:tc>
                  <a:txBody>
                    <a:bodyPr/>
                    <a:lstStyle/>
                    <a:p>
                      <a:pPr indent="0" marL="0">
                        <a:buNone/>
                      </a:pP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Sistema de Producción</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1A2B4A"/>
                    </a:solidFill>
                  </a:tcPr>
                </a:tc>
                <a:tc>
                  <a:txBody>
                    <a:bodyPr/>
                    <a:lstStyle/>
                    <a:p>
                      <a:pPr algn="ctr" indent="0" marL="0">
                        <a:buNone/>
                      </a:pPr>
                      <a:r>
                        <a:rPr lang="en-US" sz="1250" b="1" dirty="0">
                          <a:solidFill>
                            <a:srgbClr val="1A2B4A"/>
                          </a:solidFill>
                          <a:latin typeface="Arial" pitchFamily="34" charset="0"/>
                          <a:ea typeface="Arial" pitchFamily="34" charset="-122"/>
                          <a:cs typeface="Arial" pitchFamily="34" charset="-120"/>
                        </a:rPr>
                        <a:t>Sistema de Compras</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9DC8E8"/>
                    </a:solidFill>
                  </a:tcPr>
                </a:tc>
              </a:tr>
              <a:tr h="438912">
                <a:tc>
                  <a:txBody>
                    <a:bodyPr/>
                    <a:lstStyle/>
                    <a:p>
                      <a:pPr indent="0" marL="0">
                        <a:buNone/>
                      </a:pPr>
                      <a:r>
                        <a:rPr lang="en-US" sz="1250" b="1" dirty="0">
                          <a:solidFill>
                            <a:srgbClr val="1A2B4A"/>
                          </a:solidFill>
                          <a:latin typeface="Arial" pitchFamily="34" charset="0"/>
                          <a:ea typeface="Arial" pitchFamily="34" charset="-122"/>
                          <a:cs typeface="Arial" pitchFamily="34" charset="-120"/>
                        </a:rPr>
                        <a:t>Genera…</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DDE4EE"/>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Producto terminado</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7F9FC"/>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Abastecimiento de insumos</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7F9FC"/>
                    </a:solidFill>
                  </a:tcPr>
                </a:tc>
              </a:tr>
              <a:tr h="438912">
                <a:tc>
                  <a:txBody>
                    <a:bodyPr/>
                    <a:lstStyle/>
                    <a:p>
                      <a:pPr indent="0" marL="0">
                        <a:buNone/>
                      </a:pPr>
                      <a:r>
                        <a:rPr lang="en-US" sz="1250" b="1" dirty="0">
                          <a:solidFill>
                            <a:srgbClr val="1A2B4A"/>
                          </a:solidFill>
                          <a:latin typeface="Arial" pitchFamily="34" charset="0"/>
                          <a:ea typeface="Arial" pitchFamily="34" charset="-122"/>
                          <a:cs typeface="Arial" pitchFamily="34" charset="-120"/>
                        </a:rPr>
                        <a:t>Inicia con…</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DDE4EE"/>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Orden de Producción (OP)</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Solicitud de Compra (SC)</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A2B4A"/>
                          </a:solidFill>
                          <a:latin typeface="Arial" pitchFamily="34" charset="0"/>
                          <a:ea typeface="Arial" pitchFamily="34" charset="-122"/>
                          <a:cs typeface="Arial" pitchFamily="34" charset="-120"/>
                        </a:rPr>
                        <a:t>Proveedor externo</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DDE4EE"/>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No (los insumos ya están)</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7F9FC"/>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Sí, central en el proceso</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7F9FC"/>
                    </a:solidFill>
                  </a:tcPr>
                </a:tc>
              </a:tr>
              <a:tr h="438912">
                <a:tc>
                  <a:txBody>
                    <a:bodyPr/>
                    <a:lstStyle/>
                    <a:p>
                      <a:pPr indent="0" marL="0">
                        <a:buNone/>
                      </a:pPr>
                      <a:r>
                        <a:rPr lang="en-US" sz="1250" b="1" dirty="0">
                          <a:solidFill>
                            <a:srgbClr val="1A2B4A"/>
                          </a:solidFill>
                          <a:latin typeface="Arial" pitchFamily="34" charset="0"/>
                          <a:ea typeface="Arial" pitchFamily="34" charset="-122"/>
                          <a:cs typeface="Arial" pitchFamily="34" charset="-120"/>
                        </a:rPr>
                        <a:t>Control clave</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DDE4EE"/>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Calidad separada de fabricación</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Recepción separada de Compras</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r h="438912">
                <a:tc>
                  <a:txBody>
                    <a:bodyPr/>
                    <a:lstStyle/>
                    <a:p>
                      <a:pPr indent="0" marL="0">
                        <a:buNone/>
                      </a:pPr>
                      <a:r>
                        <a:rPr lang="en-US" sz="1250" b="1" dirty="0">
                          <a:solidFill>
                            <a:srgbClr val="1A2B4A"/>
                          </a:solidFill>
                          <a:latin typeface="Arial" pitchFamily="34" charset="0"/>
                          <a:ea typeface="Arial" pitchFamily="34" charset="-122"/>
                          <a:cs typeface="Arial" pitchFamily="34" charset="-120"/>
                        </a:rPr>
                        <a:t>Documento final</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DDE4EE"/>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Parte diario / Remito interno</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7F9FC"/>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Informe de Recepción (IR)</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7F9FC"/>
                    </a:solidFill>
                  </a:tcPr>
                </a:tc>
              </a:tr>
              <a:tr h="438912">
                <a:tc>
                  <a:txBody>
                    <a:bodyPr/>
                    <a:lstStyle/>
                    <a:p>
                      <a:pPr indent="0" marL="0">
                        <a:buNone/>
                      </a:pPr>
                      <a:r>
                        <a:rPr lang="en-US" sz="1250" b="1" dirty="0">
                          <a:solidFill>
                            <a:srgbClr val="1A2B4A"/>
                          </a:solidFill>
                          <a:latin typeface="Arial" pitchFamily="34" charset="0"/>
                          <a:ea typeface="Arial" pitchFamily="34" charset="-122"/>
                          <a:cs typeface="Arial" pitchFamily="34" charset="-120"/>
                        </a:rPr>
                        <a:t>Registración</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DDE4EE"/>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Contaduría (costo de producción)</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Arial" pitchFamily="34" charset="0"/>
                          <a:ea typeface="Arial" pitchFamily="34" charset="-122"/>
                          <a:cs typeface="Arial" pitchFamily="34" charset="-120"/>
                        </a:rPr>
                        <a:t>Contaduría (compra de MP)</a:t>
                      </a:r>
                      <a:endParaRPr lang="en-US" sz="1250" dirty="0">
                        <a:latin typeface="Arial" charset="0"/>
                        <a:ea typeface="Arial" charset="0"/>
                        <a:cs typeface="Arial" charset="0"/>
                      </a:endParaRPr>
                    </a:p>
                  </a:txBody>
                  <a:tcPr marL="109728" marR="109728" marT="45720" marB="45720" anchor="ctr">
                    <a:lnL w="9525" cap="flat" cmpd="sng" algn="ctr">
                      <a:solidFill>
                        <a:srgbClr val="DDE4EE"/>
                      </a:solidFill>
                      <a:prstDash val="solid"/>
                      <a:round/>
                      <a:headEnd type="none" w="med" len="med"/>
                      <a:tailEnd type="none" w="med" len="med"/>
                    </a:lnL>
                    <a:lnR w="9525" cap="flat" cmpd="sng" algn="ctr">
                      <a:solidFill>
                        <a:srgbClr val="DDE4EE"/>
                      </a:solidFill>
                      <a:prstDash val="solid"/>
                      <a:round/>
                      <a:headEnd type="none" w="med" len="med"/>
                      <a:tailEnd type="none" w="med" len="med"/>
                    </a:lnR>
                    <a:lnT w="9525" cap="flat" cmpd="sng" algn="ctr">
                      <a:solidFill>
                        <a:srgbClr val="DDE4EE"/>
                      </a:solidFill>
                      <a:prstDash val="solid"/>
                      <a:round/>
                      <a:headEnd type="none" w="med" len="med"/>
                      <a:tailEnd type="none" w="med" len="med"/>
                    </a:lnT>
                    <a:lnB w="9525" cap="flat" cmpd="sng" algn="ctr">
                      <a:solidFill>
                        <a:srgbClr val="DDE4EE"/>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FCE UBA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Compras</dc:title>
  <dc:subject>Cátedra Saravia</dc:subject>
  <dc:creator>Cátedra Saravia - FCE UBA</dc:creator>
  <cp:lastModifiedBy>Cátedra Saravia - FCE UBA</cp:lastModifiedBy>
  <cp:revision>1</cp:revision>
  <dcterms:created xsi:type="dcterms:W3CDTF">2026-10-15T15:50:13Z</dcterms:created>
  <dcterms:modified xsi:type="dcterms:W3CDTF">2026-10-15T15:50:13Z</dcterms:modified>
</cp:coreProperties>
</file>